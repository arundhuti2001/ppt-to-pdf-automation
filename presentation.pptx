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2231" y="293770"/>
            <a:ext cx="7107936" cy="384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69919" y="9258300"/>
            <a:ext cx="4270375" cy="800100"/>
          </a:xfrm>
          <a:prstGeom prst="rect">
            <a:avLst/>
          </a:prstGeom>
          <a:solidFill>
            <a:srgbClr val="97281D"/>
          </a:solidFill>
        </p:spPr>
        <p:txBody>
          <a:bodyPr wrap="square" lIns="0" tIns="40005" rIns="0" bIns="0" rtlCol="0" vert="horz">
            <a:spAutoFit/>
          </a:bodyPr>
          <a:lstStyle/>
          <a:p>
            <a:pPr algn="just" marL="86360" marR="78740">
              <a:lnSpc>
                <a:spcPct val="100000"/>
              </a:lnSpc>
              <a:spcBef>
                <a:spcPts val="315"/>
              </a:spcBef>
            </a:pP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Disclaimer:</a:t>
            </a:r>
            <a:r>
              <a:rPr dirty="0" sz="750" spc="-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Fund(s)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is a</a:t>
            </a:r>
            <a:r>
              <a:rPr dirty="0" sz="75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part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dirty="0" sz="750" spc="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40">
                <a:solidFill>
                  <a:srgbClr val="FFFFFF"/>
                </a:solidFill>
                <a:latin typeface="Verdana"/>
                <a:cs typeface="Verdana"/>
              </a:rPr>
              <a:t>investment-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linked</a:t>
            </a:r>
            <a:r>
              <a:rPr dirty="0" sz="750" spc="-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5">
                <a:solidFill>
                  <a:srgbClr val="FFFFFF"/>
                </a:solidFill>
                <a:latin typeface="Verdana"/>
                <a:cs typeface="Verdana"/>
              </a:rPr>
              <a:t>insurance</a:t>
            </a:r>
            <a:r>
              <a:rPr dirty="0" sz="750" spc="-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products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offered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 by</a:t>
            </a:r>
            <a:r>
              <a:rPr dirty="0" sz="750" spc="-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ICICI </a:t>
            </a:r>
            <a:r>
              <a:rPr dirty="0" sz="750" spc="-25">
                <a:solidFill>
                  <a:srgbClr val="FFFFFF"/>
                </a:solidFill>
                <a:latin typeface="Verdana"/>
                <a:cs typeface="Verdana"/>
              </a:rPr>
              <a:t>Prudential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Life </a:t>
            </a:r>
            <a:r>
              <a:rPr dirty="0" sz="750" spc="-45">
                <a:solidFill>
                  <a:srgbClr val="FFFFFF"/>
                </a:solidFill>
                <a:latin typeface="Verdana"/>
                <a:cs typeface="Verdana"/>
              </a:rPr>
              <a:t>Insurance</a:t>
            </a:r>
            <a:r>
              <a:rPr dirty="0" sz="75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Company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40">
                <a:solidFill>
                  <a:srgbClr val="FFFFFF"/>
                </a:solidFill>
                <a:latin typeface="Verdana"/>
                <a:cs typeface="Verdana"/>
              </a:rPr>
              <a:t>Limited,</a:t>
            </a:r>
            <a:r>
              <a:rPr dirty="0" sz="75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45">
                <a:solidFill>
                  <a:srgbClr val="FFFFFF"/>
                </a:solidFill>
                <a:latin typeface="Verdana"/>
                <a:cs typeface="Verdana"/>
              </a:rPr>
              <a:t>GIFT</a:t>
            </a:r>
            <a:r>
              <a:rPr dirty="0" sz="75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City</a:t>
            </a: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95">
                <a:solidFill>
                  <a:srgbClr val="FFFFFF"/>
                </a:solidFill>
                <a:latin typeface="Verdana"/>
                <a:cs typeface="Verdana"/>
              </a:rPr>
              <a:t>–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IFSC.</a:t>
            </a:r>
            <a:endParaRPr sz="750">
              <a:latin typeface="Verdana"/>
              <a:cs typeface="Verdana"/>
            </a:endParaRPr>
          </a:p>
          <a:p>
            <a:pPr algn="just" marL="86360" marR="78105">
              <a:lnSpc>
                <a:spcPct val="100000"/>
              </a:lnSpc>
              <a:spcBef>
                <a:spcPts val="15"/>
              </a:spcBef>
            </a:pP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Fund</a:t>
            </a:r>
            <a:r>
              <a:rPr dirty="0" sz="750" spc="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values</a:t>
            </a:r>
            <a:r>
              <a:rPr dirty="0" sz="750" spc="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may</a:t>
            </a:r>
            <a:r>
              <a:rPr dirty="0" sz="750" spc="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fluctuate</a:t>
            </a:r>
            <a:r>
              <a:rPr dirty="0" sz="750" spc="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based</a:t>
            </a:r>
            <a:r>
              <a:rPr dirty="0" sz="750" spc="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dirty="0" sz="750" spc="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market</a:t>
            </a:r>
            <a:r>
              <a:rPr dirty="0" sz="750" spc="1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performance</a:t>
            </a:r>
            <a:r>
              <a:rPr dirty="0" sz="750" spc="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750" spc="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other</a:t>
            </a:r>
            <a:r>
              <a:rPr dirty="0" sz="750" spc="1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factors.</a:t>
            </a:r>
            <a:r>
              <a:rPr dirty="0" sz="750" spc="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Past 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performance</a:t>
            </a:r>
            <a:r>
              <a:rPr dirty="0" sz="750" spc="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dirty="0" sz="750" spc="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750" spc="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Fund(s)</a:t>
            </a:r>
            <a:r>
              <a:rPr dirty="0" sz="750" spc="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dirty="0" sz="750" spc="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not</a:t>
            </a:r>
            <a:r>
              <a:rPr dirty="0" sz="750" spc="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indicative</a:t>
            </a:r>
            <a:r>
              <a:rPr dirty="0" sz="750" spc="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dirty="0" sz="750" spc="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future</a:t>
            </a:r>
            <a:r>
              <a:rPr dirty="0" sz="750" spc="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results.</a:t>
            </a:r>
            <a:r>
              <a:rPr dirty="0" sz="750" spc="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Returns</a:t>
            </a:r>
            <a:r>
              <a:rPr dirty="0" sz="750" spc="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shown</a:t>
            </a:r>
            <a:r>
              <a:rPr dirty="0" sz="750" spc="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dirty="0" sz="750" spc="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5">
                <a:solidFill>
                  <a:srgbClr val="FFFFFF"/>
                </a:solidFill>
                <a:latin typeface="Verdana"/>
                <a:cs typeface="Verdana"/>
              </a:rPr>
              <a:t>for illustrative</a:t>
            </a:r>
            <a:r>
              <a:rPr dirty="0" sz="75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purposes</a:t>
            </a: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only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75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not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 guaranteed.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85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dirty="0" sz="750" spc="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this</a:t>
            </a:r>
            <a:r>
              <a:rPr dirty="0" sz="75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policy,</a:t>
            </a:r>
            <a:r>
              <a:rPr dirty="0" sz="75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investment</a:t>
            </a:r>
            <a:r>
              <a:rPr dirty="0" sz="75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0">
                <a:solidFill>
                  <a:srgbClr val="FFFFFF"/>
                </a:solidFill>
                <a:latin typeface="Verdana"/>
                <a:cs typeface="Verdana"/>
              </a:rPr>
              <a:t>risk</a:t>
            </a:r>
            <a:r>
              <a:rPr dirty="0" sz="75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25">
                <a:solidFill>
                  <a:srgbClr val="FFFFFF"/>
                </a:solidFill>
                <a:latin typeface="Verdana"/>
                <a:cs typeface="Verdana"/>
              </a:rPr>
              <a:t>the portfolio</a:t>
            </a:r>
            <a:r>
              <a:rPr dirty="0" sz="75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dirty="0" sz="750" spc="-35">
                <a:solidFill>
                  <a:srgbClr val="FFFFFF"/>
                </a:solidFill>
                <a:latin typeface="Verdana"/>
                <a:cs typeface="Verdana"/>
              </a:rPr>
              <a:t> borne</a:t>
            </a:r>
            <a:r>
              <a:rPr dirty="0" sz="75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dirty="0" sz="75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45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75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750" spc="-10">
                <a:solidFill>
                  <a:srgbClr val="FFFFFF"/>
                </a:solidFill>
                <a:latin typeface="Verdana"/>
                <a:cs typeface="Verdana"/>
              </a:rPr>
              <a:t>policyholder.</a:t>
            </a:r>
            <a:endParaRPr sz="750">
              <a:latin typeface="Verdana"/>
              <a:cs typeface="Verdan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4256" y="3521110"/>
          <a:ext cx="3776979" cy="1390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6305"/>
                <a:gridCol w="758825"/>
                <a:gridCol w="754380"/>
              </a:tblGrid>
              <a:tr h="370840">
                <a:tc>
                  <a:txBody>
                    <a:bodyPr/>
                    <a:lstStyle/>
                    <a:p>
                      <a:pPr marL="6870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Asset</a:t>
                      </a:r>
                      <a:r>
                        <a:rPr dirty="0" sz="1400" spc="-11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Mix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540">
                    <a:lnB w="12700">
                      <a:solidFill>
                        <a:srgbClr val="97281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889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2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Min%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540">
                    <a:lnB w="12700">
                      <a:solidFill>
                        <a:srgbClr val="97281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2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Max%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540">
                    <a:lnB w="12700">
                      <a:solidFill>
                        <a:srgbClr val="97281D"/>
                      </a:solidFill>
                      <a:prstDash val="solid"/>
                    </a:lnB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400" spc="-1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Equity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9690">
                    <a:lnT w="12700">
                      <a:solidFill>
                        <a:srgbClr val="97281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4889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00" spc="-2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90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8419">
                    <a:lnT w="12700">
                      <a:solidFill>
                        <a:srgbClr val="97281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00" spc="-2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100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8419">
                    <a:lnT w="12700">
                      <a:solidFill>
                        <a:srgbClr val="97281D"/>
                      </a:solidFill>
                      <a:prstDash val="solid"/>
                    </a:lnT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400" spc="-4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Money</a:t>
                      </a:r>
                      <a:r>
                        <a:rPr dirty="0" sz="1400" spc="-9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6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market</a:t>
                      </a:r>
                      <a:r>
                        <a:rPr dirty="0" sz="1400" spc="-9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400" spc="-11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cash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60960"/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400" spc="-5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9055"/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dirty="0" sz="1400" spc="-2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9055"/>
                </a:tc>
              </a:tr>
              <a:tr h="340995"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400" spc="-2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Debt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9690">
                    <a:lnB w="12700">
                      <a:solidFill>
                        <a:srgbClr val="97281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762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400" spc="-50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9690">
                    <a:lnB w="12700">
                      <a:solidFill>
                        <a:srgbClr val="97281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1400" spc="-25">
                          <a:solidFill>
                            <a:srgbClr val="001F60"/>
                          </a:solidFill>
                          <a:latin typeface="Verdana"/>
                          <a:cs typeface="Verdana"/>
                        </a:rPr>
                        <a:t>10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9690">
                    <a:lnB w="12700">
                      <a:solidFill>
                        <a:srgbClr val="97281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524256" y="3381755"/>
            <a:ext cx="3700779" cy="0"/>
          </a:xfrm>
          <a:custGeom>
            <a:avLst/>
            <a:gdLst/>
            <a:ahLst/>
            <a:cxnLst/>
            <a:rect l="l" t="t" r="r" b="b"/>
            <a:pathLst>
              <a:path w="3700779" h="0">
                <a:moveTo>
                  <a:pt x="0" y="0"/>
                </a:moveTo>
                <a:lnTo>
                  <a:pt x="3700271" y="0"/>
                </a:lnTo>
              </a:path>
            </a:pathLst>
          </a:custGeom>
          <a:ln w="12192">
            <a:solidFill>
              <a:srgbClr val="97281D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976" y="1513332"/>
            <a:ext cx="310895" cy="2286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32231" y="227075"/>
            <a:ext cx="7105015" cy="574675"/>
          </a:xfrm>
          <a:custGeom>
            <a:avLst/>
            <a:gdLst/>
            <a:ahLst/>
            <a:cxnLst/>
            <a:rect l="l" t="t" r="r" b="b"/>
            <a:pathLst>
              <a:path w="7105015" h="574675">
                <a:moveTo>
                  <a:pt x="7104887" y="574548"/>
                </a:moveTo>
                <a:lnTo>
                  <a:pt x="0" y="574548"/>
                </a:lnTo>
                <a:lnTo>
                  <a:pt x="0" y="0"/>
                </a:lnTo>
                <a:lnTo>
                  <a:pt x="7104887" y="0"/>
                </a:lnTo>
                <a:lnTo>
                  <a:pt x="7104887" y="574548"/>
                </a:lnTo>
                <a:close/>
              </a:path>
            </a:pathLst>
          </a:custGeom>
          <a:solidFill>
            <a:srgbClr val="E677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 spc="-195"/>
              <a:t>ICICI</a:t>
            </a:r>
            <a:r>
              <a:rPr dirty="0" spc="-130"/>
              <a:t> </a:t>
            </a:r>
            <a:r>
              <a:rPr dirty="0"/>
              <a:t>Pru</a:t>
            </a:r>
            <a:r>
              <a:rPr dirty="0" spc="-120"/>
              <a:t> </a:t>
            </a:r>
            <a:r>
              <a:rPr dirty="0" spc="-10"/>
              <a:t>Global</a:t>
            </a:r>
            <a:r>
              <a:rPr dirty="0" spc="-140"/>
              <a:t> </a:t>
            </a:r>
            <a:r>
              <a:rPr dirty="0" spc="-35"/>
              <a:t>Diversified</a:t>
            </a:r>
            <a:r>
              <a:rPr dirty="0" spc="-180"/>
              <a:t> </a:t>
            </a:r>
            <a:r>
              <a:rPr dirty="0" spc="-20"/>
              <a:t>Fund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332231" y="198119"/>
            <a:ext cx="7105015" cy="1056640"/>
            <a:chOff x="332231" y="198119"/>
            <a:chExt cx="7105015" cy="1056640"/>
          </a:xfrm>
        </p:grpSpPr>
        <p:sp>
          <p:nvSpPr>
            <p:cNvPr id="9" name="object 9"/>
            <p:cNvSpPr/>
            <p:nvPr/>
          </p:nvSpPr>
          <p:spPr>
            <a:xfrm>
              <a:off x="332232" y="873251"/>
              <a:ext cx="7105015" cy="358140"/>
            </a:xfrm>
            <a:custGeom>
              <a:avLst/>
              <a:gdLst/>
              <a:ahLst/>
              <a:cxnLst/>
              <a:rect l="l" t="t" r="r" b="b"/>
              <a:pathLst>
                <a:path w="7105015" h="358140">
                  <a:moveTo>
                    <a:pt x="5489448" y="0"/>
                  </a:moveTo>
                  <a:lnTo>
                    <a:pt x="0" y="0"/>
                  </a:lnTo>
                  <a:lnTo>
                    <a:pt x="0" y="358140"/>
                  </a:lnTo>
                  <a:lnTo>
                    <a:pt x="5489448" y="358140"/>
                  </a:lnTo>
                  <a:lnTo>
                    <a:pt x="5489448" y="0"/>
                  </a:lnTo>
                  <a:close/>
                </a:path>
                <a:path w="7105015" h="358140">
                  <a:moveTo>
                    <a:pt x="7104875" y="0"/>
                  </a:moveTo>
                  <a:lnTo>
                    <a:pt x="5990844" y="0"/>
                  </a:lnTo>
                  <a:lnTo>
                    <a:pt x="5990844" y="358140"/>
                  </a:lnTo>
                  <a:lnTo>
                    <a:pt x="7104875" y="358140"/>
                  </a:lnTo>
                  <a:lnTo>
                    <a:pt x="7104875" y="0"/>
                  </a:lnTo>
                  <a:close/>
                </a:path>
              </a:pathLst>
            </a:custGeom>
            <a:solidFill>
              <a:srgbClr val="D1CF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821680" y="729996"/>
              <a:ext cx="501650" cy="501650"/>
            </a:xfrm>
            <a:custGeom>
              <a:avLst/>
              <a:gdLst/>
              <a:ahLst/>
              <a:cxnLst/>
              <a:rect l="l" t="t" r="r" b="b"/>
              <a:pathLst>
                <a:path w="501650" h="501650">
                  <a:moveTo>
                    <a:pt x="501396" y="501396"/>
                  </a:moveTo>
                  <a:lnTo>
                    <a:pt x="0" y="501396"/>
                  </a:lnTo>
                  <a:lnTo>
                    <a:pt x="0" y="0"/>
                  </a:lnTo>
                  <a:lnTo>
                    <a:pt x="501396" y="0"/>
                  </a:lnTo>
                  <a:lnTo>
                    <a:pt x="501396" y="501396"/>
                  </a:lnTo>
                  <a:close/>
                </a:path>
              </a:pathLst>
            </a:custGeom>
            <a:solidFill>
              <a:srgbClr val="E677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463527" y="198119"/>
              <a:ext cx="1148080" cy="1056640"/>
            </a:xfrm>
            <a:custGeom>
              <a:avLst/>
              <a:gdLst/>
              <a:ahLst/>
              <a:cxnLst/>
              <a:rect l="l" t="t" r="r" b="b"/>
              <a:pathLst>
                <a:path w="1148079" h="1056640">
                  <a:moveTo>
                    <a:pt x="644664" y="21348"/>
                  </a:moveTo>
                  <a:lnTo>
                    <a:pt x="323100" y="21348"/>
                  </a:lnTo>
                  <a:lnTo>
                    <a:pt x="0" y="537972"/>
                  </a:lnTo>
                  <a:lnTo>
                    <a:pt x="323100" y="1056132"/>
                  </a:lnTo>
                  <a:lnTo>
                    <a:pt x="644664" y="1056132"/>
                  </a:lnTo>
                  <a:lnTo>
                    <a:pt x="323100" y="537972"/>
                  </a:lnTo>
                  <a:lnTo>
                    <a:pt x="644664" y="21348"/>
                  </a:lnTo>
                  <a:close/>
                </a:path>
                <a:path w="1148079" h="1056640">
                  <a:moveTo>
                    <a:pt x="1147584" y="0"/>
                  </a:moveTo>
                  <a:lnTo>
                    <a:pt x="824484" y="0"/>
                  </a:lnTo>
                  <a:lnTo>
                    <a:pt x="501396" y="518160"/>
                  </a:lnTo>
                  <a:lnTo>
                    <a:pt x="824484" y="1034808"/>
                  </a:lnTo>
                  <a:lnTo>
                    <a:pt x="1147584" y="1034808"/>
                  </a:lnTo>
                  <a:lnTo>
                    <a:pt x="824484" y="518160"/>
                  </a:lnTo>
                  <a:lnTo>
                    <a:pt x="11475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294131" y="901631"/>
            <a:ext cx="7118350" cy="13830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3189">
              <a:lnSpc>
                <a:spcPct val="100000"/>
              </a:lnSpc>
              <a:spcBef>
                <a:spcPts val="90"/>
              </a:spcBef>
            </a:pPr>
            <a:r>
              <a:rPr dirty="0" sz="1700" spc="-105">
                <a:solidFill>
                  <a:srgbClr val="001F60"/>
                </a:solidFill>
                <a:latin typeface="Verdana"/>
                <a:cs typeface="Verdana"/>
              </a:rPr>
              <a:t>SFIN</a:t>
            </a:r>
            <a:r>
              <a:rPr dirty="0" sz="1700" spc="-11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700" spc="-55">
                <a:solidFill>
                  <a:srgbClr val="001F60"/>
                </a:solidFill>
                <a:latin typeface="Verdana"/>
                <a:cs typeface="Verdana"/>
              </a:rPr>
              <a:t>-</a:t>
            </a:r>
            <a:r>
              <a:rPr dirty="0" sz="1700" spc="-13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700" spc="-105">
                <a:solidFill>
                  <a:srgbClr val="001F60"/>
                </a:solidFill>
                <a:latin typeface="Verdana"/>
                <a:cs typeface="Verdana"/>
              </a:rPr>
              <a:t>GIFT </a:t>
            </a:r>
            <a:r>
              <a:rPr dirty="0" sz="1700" spc="-65">
                <a:solidFill>
                  <a:srgbClr val="001F60"/>
                </a:solidFill>
                <a:latin typeface="Verdana"/>
                <a:cs typeface="Verdana"/>
              </a:rPr>
              <a:t>003</a:t>
            </a:r>
            <a:r>
              <a:rPr dirty="0" sz="1700" spc="-14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700" spc="-70">
                <a:solidFill>
                  <a:srgbClr val="001F60"/>
                </a:solidFill>
                <a:latin typeface="Verdana"/>
                <a:cs typeface="Verdana"/>
              </a:rPr>
              <a:t>251125</a:t>
            </a:r>
            <a:r>
              <a:rPr dirty="0" sz="1700" spc="-18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700" spc="-55">
                <a:solidFill>
                  <a:srgbClr val="001F60"/>
                </a:solidFill>
                <a:latin typeface="Verdana"/>
                <a:cs typeface="Verdana"/>
              </a:rPr>
              <a:t>GlobalDivF</a:t>
            </a:r>
            <a:r>
              <a:rPr dirty="0" sz="1700" spc="-10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001F60"/>
                </a:solidFill>
                <a:latin typeface="Verdana"/>
                <a:cs typeface="Verdana"/>
              </a:rPr>
              <a:t>105</a:t>
            </a:r>
            <a:endParaRPr sz="1700">
              <a:latin typeface="Verdana"/>
              <a:cs typeface="Verdana"/>
            </a:endParaRPr>
          </a:p>
          <a:p>
            <a:pPr marL="4490720">
              <a:lnSpc>
                <a:spcPct val="100000"/>
              </a:lnSpc>
              <a:spcBef>
                <a:spcPts val="1015"/>
              </a:spcBef>
            </a:pPr>
            <a:r>
              <a:rPr dirty="0" sz="1200" spc="-25">
                <a:solidFill>
                  <a:srgbClr val="001F60"/>
                </a:solidFill>
                <a:latin typeface="Verdana"/>
                <a:cs typeface="Verdana"/>
              </a:rPr>
              <a:t>Inception</a:t>
            </a:r>
            <a:r>
              <a:rPr dirty="0" sz="1200" spc="-6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200" spc="-55">
                <a:solidFill>
                  <a:srgbClr val="001F60"/>
                </a:solidFill>
                <a:latin typeface="Verdana"/>
                <a:cs typeface="Verdana"/>
              </a:rPr>
              <a:t>date:</a:t>
            </a:r>
            <a:r>
              <a:rPr dirty="0" sz="1200" spc="-6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001F60"/>
                </a:solidFill>
                <a:latin typeface="Verdana"/>
                <a:cs typeface="Verdana"/>
              </a:rPr>
              <a:t>27</a:t>
            </a:r>
            <a:r>
              <a:rPr dirty="0" baseline="24305" sz="1200">
                <a:solidFill>
                  <a:srgbClr val="001F60"/>
                </a:solidFill>
                <a:latin typeface="Verdana"/>
                <a:cs typeface="Verdana"/>
              </a:rPr>
              <a:t>th</a:t>
            </a:r>
            <a:r>
              <a:rPr dirty="0" baseline="24305" sz="1200" spc="6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200" spc="-35">
                <a:solidFill>
                  <a:srgbClr val="001F60"/>
                </a:solidFill>
                <a:latin typeface="Verdana"/>
                <a:cs typeface="Verdana"/>
              </a:rPr>
              <a:t>January,</a:t>
            </a:r>
            <a:r>
              <a:rPr dirty="0" sz="1200" spc="-6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200" spc="-20">
                <a:solidFill>
                  <a:srgbClr val="001F60"/>
                </a:solidFill>
                <a:latin typeface="Verdana"/>
                <a:cs typeface="Verdana"/>
              </a:rPr>
              <a:t>2026</a:t>
            </a:r>
            <a:endParaRPr sz="1200">
              <a:latin typeface="Verdana"/>
              <a:cs typeface="Verdana"/>
            </a:endParaRPr>
          </a:p>
          <a:p>
            <a:pPr marL="669925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001F60"/>
                </a:solidFill>
                <a:latin typeface="Verdana"/>
                <a:cs typeface="Verdana"/>
              </a:rPr>
              <a:t>Objective</a:t>
            </a:r>
            <a:endParaRPr sz="1500">
              <a:latin typeface="Verdana"/>
              <a:cs typeface="Verdana"/>
            </a:endParaRPr>
          </a:p>
          <a:p>
            <a:pPr marL="318135" marR="532765">
              <a:lnSpc>
                <a:spcPct val="100699"/>
              </a:lnSpc>
              <a:spcBef>
                <a:spcPts val="915"/>
              </a:spcBef>
            </a:pPr>
            <a:r>
              <a:rPr dirty="0" sz="1400">
                <a:solidFill>
                  <a:srgbClr val="001F60"/>
                </a:solidFill>
                <a:latin typeface="Verdana"/>
                <a:cs typeface="Verdana"/>
              </a:rPr>
              <a:t>To</a:t>
            </a:r>
            <a:r>
              <a:rPr dirty="0" sz="1400" spc="-6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001F60"/>
                </a:solidFill>
                <a:latin typeface="Verdana"/>
                <a:cs typeface="Verdana"/>
              </a:rPr>
              <a:t>provide</a:t>
            </a:r>
            <a:r>
              <a:rPr dirty="0" sz="1400" spc="-7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001F60"/>
                </a:solidFill>
                <a:latin typeface="Verdana"/>
                <a:cs typeface="Verdana"/>
              </a:rPr>
              <a:t>superior</a:t>
            </a:r>
            <a:r>
              <a:rPr dirty="0" sz="1400" spc="-7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001F60"/>
                </a:solidFill>
                <a:latin typeface="Verdana"/>
                <a:cs typeface="Verdana"/>
              </a:rPr>
              <a:t>long-</a:t>
            </a:r>
            <a:r>
              <a:rPr dirty="0" sz="1400" spc="-55">
                <a:solidFill>
                  <a:srgbClr val="001F60"/>
                </a:solidFill>
                <a:latin typeface="Verdana"/>
                <a:cs typeface="Verdana"/>
              </a:rPr>
              <a:t>term</a:t>
            </a:r>
            <a:r>
              <a:rPr dirty="0" sz="1400" spc="-6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001F60"/>
                </a:solidFill>
                <a:latin typeface="Verdana"/>
                <a:cs typeface="Verdana"/>
              </a:rPr>
              <a:t>returns</a:t>
            </a:r>
            <a:r>
              <a:rPr dirty="0" sz="1400" spc="-5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001F60"/>
                </a:solidFill>
                <a:latin typeface="Verdana"/>
                <a:cs typeface="Verdana"/>
              </a:rPr>
              <a:t>through</a:t>
            </a:r>
            <a:r>
              <a:rPr dirty="0" sz="1400" spc="-6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001F60"/>
                </a:solidFill>
                <a:latin typeface="Verdana"/>
                <a:cs typeface="Verdana"/>
              </a:rPr>
              <a:t>Global</a:t>
            </a:r>
            <a:r>
              <a:rPr dirty="0" sz="1400" spc="-7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001F60"/>
                </a:solidFill>
                <a:latin typeface="Verdana"/>
                <a:cs typeface="Verdana"/>
              </a:rPr>
              <a:t>Equity</a:t>
            </a:r>
            <a:r>
              <a:rPr dirty="0" sz="1400" spc="-7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001F60"/>
                </a:solidFill>
                <a:latin typeface="Verdana"/>
                <a:cs typeface="Verdana"/>
              </a:rPr>
              <a:t>funds</a:t>
            </a:r>
            <a:r>
              <a:rPr dirty="0" sz="1400" spc="-6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001F60"/>
                </a:solidFill>
                <a:latin typeface="Verdana"/>
                <a:cs typeface="Verdana"/>
              </a:rPr>
              <a:t>which </a:t>
            </a:r>
            <a:r>
              <a:rPr dirty="0" sz="1400" spc="-55">
                <a:solidFill>
                  <a:srgbClr val="001F60"/>
                </a:solidFill>
                <a:latin typeface="Verdana"/>
                <a:cs typeface="Verdana"/>
              </a:rPr>
              <a:t>invest</a:t>
            </a:r>
            <a:r>
              <a:rPr dirty="0" sz="1400" spc="-11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001F60"/>
                </a:solidFill>
                <a:latin typeface="Verdana"/>
                <a:cs typeface="Verdana"/>
              </a:rPr>
              <a:t>in</a:t>
            </a:r>
            <a:r>
              <a:rPr dirty="0" sz="1400" spc="-9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001F60"/>
                </a:solidFill>
                <a:latin typeface="Verdana"/>
                <a:cs typeface="Verdana"/>
              </a:rPr>
              <a:t>equities</a:t>
            </a:r>
            <a:r>
              <a:rPr dirty="0" sz="1400" spc="-9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001F60"/>
                </a:solidFill>
                <a:latin typeface="Verdana"/>
                <a:cs typeface="Verdana"/>
              </a:rPr>
              <a:t>listed</a:t>
            </a:r>
            <a:r>
              <a:rPr dirty="0" sz="1400" spc="-9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001F60"/>
                </a:solidFill>
                <a:latin typeface="Verdana"/>
                <a:cs typeface="Verdana"/>
              </a:rPr>
              <a:t>in</a:t>
            </a:r>
            <a:r>
              <a:rPr dirty="0" sz="1400" spc="28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001F60"/>
                </a:solidFill>
                <a:latin typeface="Verdana"/>
                <a:cs typeface="Verdana"/>
              </a:rPr>
              <a:t>developed</a:t>
            </a:r>
            <a:r>
              <a:rPr dirty="0" sz="1400" spc="-8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001F60"/>
                </a:solidFill>
                <a:latin typeface="Verdana"/>
                <a:cs typeface="Verdana"/>
              </a:rPr>
              <a:t>countries</a:t>
            </a:r>
            <a:r>
              <a:rPr dirty="0" sz="1400" spc="-12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001F60"/>
                </a:solidFill>
                <a:latin typeface="Verdana"/>
                <a:cs typeface="Verdana"/>
              </a:rPr>
              <a:t>around</a:t>
            </a:r>
            <a:r>
              <a:rPr dirty="0" sz="1400" spc="-14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001F60"/>
                </a:solidFill>
                <a:latin typeface="Verdana"/>
                <a:cs typeface="Verdana"/>
              </a:rPr>
              <a:t>the</a:t>
            </a:r>
            <a:r>
              <a:rPr dirty="0" sz="1400" spc="-10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001F60"/>
                </a:solidFill>
                <a:latin typeface="Verdana"/>
                <a:cs typeface="Verdana"/>
              </a:rPr>
              <a:t>globe.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83200" y="2768600"/>
            <a:ext cx="10071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001F60"/>
                </a:solidFill>
                <a:latin typeface="Verdana"/>
                <a:cs typeface="Verdana"/>
              </a:rPr>
              <a:t>Risk</a:t>
            </a:r>
            <a:r>
              <a:rPr dirty="0" sz="1500" spc="-11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001F60"/>
                </a:solidFill>
                <a:latin typeface="Verdana"/>
                <a:cs typeface="Verdana"/>
              </a:rPr>
              <a:t>Meter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77900" y="2805176"/>
            <a:ext cx="170815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0">
                <a:solidFill>
                  <a:srgbClr val="001F60"/>
                </a:solidFill>
                <a:latin typeface="Verdana"/>
                <a:cs typeface="Verdana"/>
              </a:rPr>
              <a:t>Fund</a:t>
            </a:r>
            <a:r>
              <a:rPr dirty="0" sz="1500" spc="-10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001F60"/>
                </a:solidFill>
                <a:latin typeface="Verdana"/>
                <a:cs typeface="Verdana"/>
              </a:rPr>
              <a:t>Composition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300" y="2731007"/>
            <a:ext cx="348995" cy="34899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07439" y="5496560"/>
            <a:ext cx="30581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0">
                <a:solidFill>
                  <a:srgbClr val="001F60"/>
                </a:solidFill>
                <a:latin typeface="Verdana"/>
                <a:cs typeface="Verdana"/>
              </a:rPr>
              <a:t>Fund</a:t>
            </a:r>
            <a:r>
              <a:rPr dirty="0" sz="1500" spc="-6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500" spc="-20">
                <a:solidFill>
                  <a:srgbClr val="001F60"/>
                </a:solidFill>
                <a:latin typeface="Verdana"/>
                <a:cs typeface="Verdana"/>
              </a:rPr>
              <a:t>Performance</a:t>
            </a:r>
            <a:r>
              <a:rPr dirty="0" sz="1500" spc="-5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500" spc="-30">
                <a:solidFill>
                  <a:srgbClr val="001F60"/>
                </a:solidFill>
                <a:latin typeface="Verdana"/>
                <a:cs typeface="Verdana"/>
              </a:rPr>
              <a:t>(Back-</a:t>
            </a:r>
            <a:r>
              <a:rPr dirty="0" sz="1500" spc="-10">
                <a:solidFill>
                  <a:srgbClr val="001F60"/>
                </a:solidFill>
                <a:latin typeface="Verdana"/>
                <a:cs typeface="Verdana"/>
              </a:rPr>
              <a:t>tested)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5300" y="5382768"/>
            <a:ext cx="473963" cy="42824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8411" y="9353144"/>
            <a:ext cx="2704373" cy="631908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964691" y="6388607"/>
            <a:ext cx="3205480" cy="1577340"/>
            <a:chOff x="964691" y="6388607"/>
            <a:chExt cx="3205480" cy="1577340"/>
          </a:xfrm>
        </p:grpSpPr>
        <p:sp>
          <p:nvSpPr>
            <p:cNvPr id="20" name="object 20"/>
            <p:cNvSpPr/>
            <p:nvPr/>
          </p:nvSpPr>
          <p:spPr>
            <a:xfrm>
              <a:off x="964691" y="6486143"/>
              <a:ext cx="3205480" cy="1106805"/>
            </a:xfrm>
            <a:custGeom>
              <a:avLst/>
              <a:gdLst/>
              <a:ahLst/>
              <a:cxnLst/>
              <a:rect l="l" t="t" r="r" b="b"/>
              <a:pathLst>
                <a:path w="3205479" h="1106804">
                  <a:moveTo>
                    <a:pt x="0" y="1106424"/>
                  </a:moveTo>
                  <a:lnTo>
                    <a:pt x="256032" y="1106424"/>
                  </a:lnTo>
                </a:path>
                <a:path w="3205479" h="1106804">
                  <a:moveTo>
                    <a:pt x="489204" y="1106424"/>
                  </a:moveTo>
                  <a:lnTo>
                    <a:pt x="1057656" y="1106424"/>
                  </a:lnTo>
                </a:path>
                <a:path w="3205479" h="1106804">
                  <a:moveTo>
                    <a:pt x="1290828" y="1106424"/>
                  </a:moveTo>
                  <a:lnTo>
                    <a:pt x="1857756" y="1106424"/>
                  </a:lnTo>
                </a:path>
                <a:path w="3205479" h="1106804">
                  <a:moveTo>
                    <a:pt x="2092452" y="1106424"/>
                  </a:moveTo>
                  <a:lnTo>
                    <a:pt x="3204972" y="1106424"/>
                  </a:lnTo>
                </a:path>
                <a:path w="3205479" h="1106804">
                  <a:moveTo>
                    <a:pt x="0" y="737616"/>
                  </a:moveTo>
                  <a:lnTo>
                    <a:pt x="256032" y="737616"/>
                  </a:lnTo>
                </a:path>
                <a:path w="3205479" h="1106804">
                  <a:moveTo>
                    <a:pt x="489204" y="737616"/>
                  </a:moveTo>
                  <a:lnTo>
                    <a:pt x="1057656" y="737616"/>
                  </a:lnTo>
                </a:path>
                <a:path w="3205479" h="1106804">
                  <a:moveTo>
                    <a:pt x="1290828" y="737616"/>
                  </a:moveTo>
                  <a:lnTo>
                    <a:pt x="1857756" y="737616"/>
                  </a:lnTo>
                </a:path>
                <a:path w="3205479" h="1106804">
                  <a:moveTo>
                    <a:pt x="2092452" y="737616"/>
                  </a:moveTo>
                  <a:lnTo>
                    <a:pt x="3204972" y="737616"/>
                  </a:lnTo>
                </a:path>
                <a:path w="3205479" h="1106804">
                  <a:moveTo>
                    <a:pt x="0" y="368808"/>
                  </a:moveTo>
                  <a:lnTo>
                    <a:pt x="256032" y="368808"/>
                  </a:lnTo>
                </a:path>
                <a:path w="3205479" h="1106804">
                  <a:moveTo>
                    <a:pt x="489204" y="368808"/>
                  </a:moveTo>
                  <a:lnTo>
                    <a:pt x="3204972" y="368808"/>
                  </a:lnTo>
                </a:path>
                <a:path w="3205479" h="1106804">
                  <a:moveTo>
                    <a:pt x="0" y="0"/>
                  </a:moveTo>
                  <a:lnTo>
                    <a:pt x="256032" y="0"/>
                  </a:lnTo>
                </a:path>
                <a:path w="3205479" h="1106804">
                  <a:moveTo>
                    <a:pt x="489204" y="0"/>
                  </a:moveTo>
                  <a:lnTo>
                    <a:pt x="3204972" y="0"/>
                  </a:lnTo>
                </a:path>
              </a:pathLst>
            </a:custGeom>
            <a:ln w="914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220724" y="6388607"/>
              <a:ext cx="1836420" cy="1572895"/>
            </a:xfrm>
            <a:custGeom>
              <a:avLst/>
              <a:gdLst/>
              <a:ahLst/>
              <a:cxnLst/>
              <a:rect l="l" t="t" r="r" b="b"/>
              <a:pathLst>
                <a:path w="1836420" h="1572895">
                  <a:moveTo>
                    <a:pt x="233172" y="0"/>
                  </a:moveTo>
                  <a:lnTo>
                    <a:pt x="0" y="0"/>
                  </a:lnTo>
                  <a:lnTo>
                    <a:pt x="0" y="1572768"/>
                  </a:lnTo>
                  <a:lnTo>
                    <a:pt x="233172" y="1572768"/>
                  </a:lnTo>
                  <a:lnTo>
                    <a:pt x="233172" y="0"/>
                  </a:lnTo>
                  <a:close/>
                </a:path>
                <a:path w="1836420" h="1572895">
                  <a:moveTo>
                    <a:pt x="1034796" y="661416"/>
                  </a:moveTo>
                  <a:lnTo>
                    <a:pt x="801624" y="661416"/>
                  </a:lnTo>
                  <a:lnTo>
                    <a:pt x="801624" y="1572768"/>
                  </a:lnTo>
                  <a:lnTo>
                    <a:pt x="1034796" y="1572768"/>
                  </a:lnTo>
                  <a:lnTo>
                    <a:pt x="1034796" y="661416"/>
                  </a:lnTo>
                  <a:close/>
                </a:path>
                <a:path w="1836420" h="1572895">
                  <a:moveTo>
                    <a:pt x="1836420" y="658368"/>
                  </a:moveTo>
                  <a:lnTo>
                    <a:pt x="1601724" y="658368"/>
                  </a:lnTo>
                  <a:lnTo>
                    <a:pt x="1601724" y="1572768"/>
                  </a:lnTo>
                  <a:lnTo>
                    <a:pt x="1836420" y="1572768"/>
                  </a:lnTo>
                  <a:lnTo>
                    <a:pt x="1836420" y="658368"/>
                  </a:lnTo>
                  <a:close/>
                </a:path>
              </a:pathLst>
            </a:custGeom>
            <a:solidFill>
              <a:srgbClr val="052B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64691" y="7961376"/>
              <a:ext cx="3205480" cy="0"/>
            </a:xfrm>
            <a:custGeom>
              <a:avLst/>
              <a:gdLst/>
              <a:ahLst/>
              <a:cxnLst/>
              <a:rect l="l" t="t" r="r" b="b"/>
              <a:pathLst>
                <a:path w="3205479" h="0">
                  <a:moveTo>
                    <a:pt x="0" y="0"/>
                  </a:moveTo>
                  <a:lnTo>
                    <a:pt x="3204972" y="0"/>
                  </a:lnTo>
                </a:path>
              </a:pathLst>
            </a:custGeom>
            <a:ln w="914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/>
          <p:nvPr/>
        </p:nvSpPr>
        <p:spPr>
          <a:xfrm>
            <a:off x="964691" y="6115811"/>
            <a:ext cx="3205480" cy="0"/>
          </a:xfrm>
          <a:custGeom>
            <a:avLst/>
            <a:gdLst/>
            <a:ahLst/>
            <a:cxnLst/>
            <a:rect l="l" t="t" r="r" b="b"/>
            <a:pathLst>
              <a:path w="3205479" h="0">
                <a:moveTo>
                  <a:pt x="0" y="0"/>
                </a:moveTo>
                <a:lnTo>
                  <a:pt x="3204972" y="0"/>
                </a:lnTo>
              </a:path>
            </a:pathLst>
          </a:custGeom>
          <a:ln w="9144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067879" y="6142723"/>
            <a:ext cx="54102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55">
                <a:solidFill>
                  <a:srgbClr val="052B6D"/>
                </a:solidFill>
                <a:latin typeface="Verdana"/>
                <a:cs typeface="Verdana"/>
              </a:rPr>
              <a:t>21.31%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67964" y="6804136"/>
            <a:ext cx="54102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55">
                <a:solidFill>
                  <a:srgbClr val="052B6D"/>
                </a:solidFill>
                <a:latin typeface="Verdana"/>
                <a:cs typeface="Verdana"/>
              </a:rPr>
              <a:t>12.36%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69482" y="6801128"/>
            <a:ext cx="54102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55">
                <a:solidFill>
                  <a:srgbClr val="052B6D"/>
                </a:solidFill>
                <a:latin typeface="Verdana"/>
                <a:cs typeface="Verdana"/>
              </a:rPr>
              <a:t>12.40%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2270" y="7851195"/>
            <a:ext cx="24892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45">
                <a:solidFill>
                  <a:srgbClr val="052B6D"/>
                </a:solidFill>
                <a:latin typeface="Verdana"/>
                <a:cs typeface="Verdana"/>
              </a:rPr>
              <a:t>0%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2270" y="7482310"/>
            <a:ext cx="24892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45">
                <a:solidFill>
                  <a:srgbClr val="052B6D"/>
                </a:solidFill>
                <a:latin typeface="Verdana"/>
                <a:cs typeface="Verdana"/>
              </a:rPr>
              <a:t>5%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7032" y="7113569"/>
            <a:ext cx="33464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40">
                <a:solidFill>
                  <a:srgbClr val="052B6D"/>
                </a:solidFill>
                <a:latin typeface="Verdana"/>
                <a:cs typeface="Verdana"/>
              </a:rPr>
              <a:t>10%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7032" y="6743252"/>
            <a:ext cx="33464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40">
                <a:solidFill>
                  <a:srgbClr val="052B6D"/>
                </a:solidFill>
                <a:latin typeface="Verdana"/>
                <a:cs typeface="Verdana"/>
              </a:rPr>
              <a:t>15%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7032" y="6374369"/>
            <a:ext cx="33464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40">
                <a:solidFill>
                  <a:srgbClr val="052B6D"/>
                </a:solidFill>
                <a:latin typeface="Verdana"/>
                <a:cs typeface="Verdana"/>
              </a:rPr>
              <a:t>20%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7032" y="6005627"/>
            <a:ext cx="33464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40">
                <a:solidFill>
                  <a:srgbClr val="052B6D"/>
                </a:solidFill>
                <a:latin typeface="Verdana"/>
                <a:cs typeface="Verdana"/>
              </a:rPr>
              <a:t>25%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95241" y="8046166"/>
            <a:ext cx="54356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30">
                <a:solidFill>
                  <a:srgbClr val="052B6D"/>
                </a:solidFill>
                <a:latin typeface="Verdana"/>
                <a:cs typeface="Verdana"/>
              </a:rPr>
              <a:t>3</a:t>
            </a:r>
            <a:r>
              <a:rPr dirty="0" sz="1100" spc="-7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052B6D"/>
                </a:solidFill>
                <a:latin typeface="Verdana"/>
                <a:cs typeface="Verdana"/>
              </a:rPr>
              <a:t>Years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97475" y="8046166"/>
            <a:ext cx="54229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30">
                <a:solidFill>
                  <a:srgbClr val="052B6D"/>
                </a:solidFill>
                <a:latin typeface="Verdana"/>
                <a:cs typeface="Verdana"/>
              </a:rPr>
              <a:t>5</a:t>
            </a:r>
            <a:r>
              <a:rPr dirty="0" sz="1100" spc="-7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052B6D"/>
                </a:solidFill>
                <a:latin typeface="Verdana"/>
                <a:cs typeface="Verdana"/>
              </a:rPr>
              <a:t>Years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53867" y="8046166"/>
            <a:ext cx="63055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35">
                <a:solidFill>
                  <a:srgbClr val="052B6D"/>
                </a:solidFill>
                <a:latin typeface="Verdana"/>
                <a:cs typeface="Verdana"/>
              </a:rPr>
              <a:t>10</a:t>
            </a:r>
            <a:r>
              <a:rPr dirty="0" sz="1100" spc="-6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052B6D"/>
                </a:solidFill>
                <a:latin typeface="Verdana"/>
                <a:cs typeface="Verdana"/>
              </a:rPr>
              <a:t>Years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385564" y="5433653"/>
            <a:ext cx="3000375" cy="281432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595"/>
              </a:spcBef>
            </a:pPr>
            <a:r>
              <a:rPr dirty="0" sz="1500" spc="-40">
                <a:solidFill>
                  <a:srgbClr val="001F60"/>
                </a:solidFill>
                <a:latin typeface="Verdana"/>
                <a:cs typeface="Verdana"/>
              </a:rPr>
              <a:t>Illustrative</a:t>
            </a:r>
            <a:r>
              <a:rPr dirty="0" sz="1500" spc="-5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500">
                <a:solidFill>
                  <a:srgbClr val="001F60"/>
                </a:solidFill>
                <a:latin typeface="Verdana"/>
                <a:cs typeface="Verdana"/>
              </a:rPr>
              <a:t>List</a:t>
            </a:r>
            <a:r>
              <a:rPr dirty="0" sz="1500" spc="-6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500">
                <a:solidFill>
                  <a:srgbClr val="001F60"/>
                </a:solidFill>
                <a:latin typeface="Verdana"/>
                <a:cs typeface="Verdana"/>
              </a:rPr>
              <a:t>of</a:t>
            </a:r>
            <a:r>
              <a:rPr dirty="0" sz="1500" spc="-9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001F60"/>
                </a:solidFill>
                <a:latin typeface="Verdana"/>
                <a:cs typeface="Verdana"/>
              </a:rPr>
              <a:t>Companies</a:t>
            </a:r>
            <a:endParaRPr sz="1500">
              <a:latin typeface="Verdana"/>
              <a:cs typeface="Verdana"/>
            </a:endParaRPr>
          </a:p>
          <a:p>
            <a:pPr marL="161925">
              <a:lnSpc>
                <a:spcPct val="100000"/>
              </a:lnSpc>
              <a:spcBef>
                <a:spcPts val="480"/>
              </a:spcBef>
            </a:pPr>
            <a:r>
              <a:rPr dirty="0" sz="1400" spc="-10">
                <a:solidFill>
                  <a:srgbClr val="001F60"/>
                </a:solidFill>
                <a:latin typeface="Verdana"/>
                <a:cs typeface="Verdana"/>
              </a:rPr>
              <a:t>NVIDIA</a:t>
            </a:r>
            <a:endParaRPr sz="1400">
              <a:latin typeface="Verdana"/>
              <a:cs typeface="Verdana"/>
            </a:endParaRPr>
          </a:p>
          <a:p>
            <a:pPr marL="161925" marR="2044064">
              <a:lnSpc>
                <a:spcPct val="115700"/>
              </a:lnSpc>
              <a:spcBef>
                <a:spcPts val="5"/>
              </a:spcBef>
            </a:pPr>
            <a:r>
              <a:rPr dirty="0" sz="1400" spc="-10">
                <a:solidFill>
                  <a:srgbClr val="001F60"/>
                </a:solidFill>
                <a:latin typeface="Verdana"/>
                <a:cs typeface="Verdana"/>
              </a:rPr>
              <a:t>Apple Alphabet </a:t>
            </a:r>
            <a:r>
              <a:rPr dirty="0" sz="1400" spc="-30">
                <a:solidFill>
                  <a:srgbClr val="001F60"/>
                </a:solidFill>
                <a:latin typeface="Verdana"/>
                <a:cs typeface="Verdana"/>
              </a:rPr>
              <a:t>Microsoft </a:t>
            </a:r>
            <a:r>
              <a:rPr dirty="0" sz="1400" spc="-10">
                <a:solidFill>
                  <a:srgbClr val="001F60"/>
                </a:solidFill>
                <a:latin typeface="Verdana"/>
                <a:cs typeface="Verdana"/>
              </a:rPr>
              <a:t>Amazon</a:t>
            </a:r>
            <a:endParaRPr sz="1400">
              <a:latin typeface="Verdana"/>
              <a:cs typeface="Verdana"/>
            </a:endParaRPr>
          </a:p>
          <a:p>
            <a:pPr marL="161925" marR="1244600">
              <a:lnSpc>
                <a:spcPct val="115700"/>
              </a:lnSpc>
            </a:pPr>
            <a:r>
              <a:rPr dirty="0" sz="1400" spc="-40">
                <a:solidFill>
                  <a:srgbClr val="001F60"/>
                </a:solidFill>
                <a:latin typeface="Verdana"/>
                <a:cs typeface="Verdana"/>
              </a:rPr>
              <a:t>Micron</a:t>
            </a:r>
            <a:r>
              <a:rPr dirty="0" sz="1400" spc="-75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001F60"/>
                </a:solidFill>
                <a:latin typeface="Verdana"/>
                <a:cs typeface="Verdana"/>
              </a:rPr>
              <a:t>Technology </a:t>
            </a:r>
            <a:r>
              <a:rPr dirty="0" sz="1400" spc="-60">
                <a:solidFill>
                  <a:srgbClr val="001F60"/>
                </a:solidFill>
                <a:latin typeface="Verdana"/>
                <a:cs typeface="Verdana"/>
              </a:rPr>
              <a:t>GE</a:t>
            </a:r>
            <a:r>
              <a:rPr dirty="0" sz="1400" spc="-114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001F60"/>
                </a:solidFill>
                <a:latin typeface="Verdana"/>
                <a:cs typeface="Verdana"/>
              </a:rPr>
              <a:t>Aerospace </a:t>
            </a:r>
            <a:r>
              <a:rPr dirty="0" sz="1400" spc="-65">
                <a:solidFill>
                  <a:srgbClr val="001F60"/>
                </a:solidFill>
                <a:latin typeface="Verdana"/>
                <a:cs typeface="Verdana"/>
              </a:rPr>
              <a:t>Shell</a:t>
            </a:r>
            <a:r>
              <a:rPr dirty="0" sz="1400" spc="-8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001F60"/>
                </a:solidFill>
                <a:latin typeface="Verdana"/>
                <a:cs typeface="Verdana"/>
              </a:rPr>
              <a:t>PLC</a:t>
            </a:r>
            <a:endParaRPr sz="1400">
              <a:latin typeface="Verdana"/>
              <a:cs typeface="Verdana"/>
            </a:endParaRPr>
          </a:p>
          <a:p>
            <a:pPr marL="161925">
              <a:lnSpc>
                <a:spcPct val="100000"/>
              </a:lnSpc>
              <a:spcBef>
                <a:spcPts val="260"/>
              </a:spcBef>
            </a:pPr>
            <a:r>
              <a:rPr dirty="0" sz="1400" spc="-35">
                <a:solidFill>
                  <a:srgbClr val="001F60"/>
                </a:solidFill>
                <a:latin typeface="Verdana"/>
                <a:cs typeface="Verdana"/>
              </a:rPr>
              <a:t>Toyota</a:t>
            </a:r>
            <a:r>
              <a:rPr dirty="0" sz="1400" spc="-114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001F60"/>
                </a:solidFill>
                <a:latin typeface="Verdana"/>
                <a:cs typeface="Verdana"/>
              </a:rPr>
              <a:t>Motor</a:t>
            </a:r>
            <a:r>
              <a:rPr dirty="0" sz="1400" spc="-80">
                <a:solidFill>
                  <a:srgbClr val="001F60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001F60"/>
                </a:solidFill>
                <a:latin typeface="Verdana"/>
                <a:cs typeface="Verdana"/>
              </a:rPr>
              <a:t>Corp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  <a:tabLst>
                <a:tab pos="2987040" algn="l"/>
              </a:tabLst>
            </a:pPr>
            <a:r>
              <a:rPr dirty="0" u="sng" sz="1400" spc="260">
                <a:solidFill>
                  <a:srgbClr val="001F60"/>
                </a:solidFill>
                <a:uFill>
                  <a:solidFill>
                    <a:srgbClr val="97281D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1400" spc="-30">
                <a:solidFill>
                  <a:srgbClr val="001F60"/>
                </a:solidFill>
                <a:uFill>
                  <a:solidFill>
                    <a:srgbClr val="97281D"/>
                  </a:solidFill>
                </a:uFill>
                <a:latin typeface="Verdana"/>
                <a:cs typeface="Verdana"/>
              </a:rPr>
              <a:t>Hitachi</a:t>
            </a:r>
            <a:r>
              <a:rPr dirty="0" u="sng" sz="1400" spc="-125">
                <a:solidFill>
                  <a:srgbClr val="001F60"/>
                </a:solidFill>
                <a:uFill>
                  <a:solidFill>
                    <a:srgbClr val="97281D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1400" spc="-25">
                <a:solidFill>
                  <a:srgbClr val="001F60"/>
                </a:solidFill>
                <a:uFill>
                  <a:solidFill>
                    <a:srgbClr val="97281D"/>
                  </a:solidFill>
                </a:uFill>
                <a:latin typeface="Verdana"/>
                <a:cs typeface="Verdana"/>
              </a:rPr>
              <a:t>Ltd</a:t>
            </a:r>
            <a:r>
              <a:rPr dirty="0" u="sng" sz="1400">
                <a:solidFill>
                  <a:srgbClr val="001F60"/>
                </a:solidFill>
                <a:uFill>
                  <a:solidFill>
                    <a:srgbClr val="97281D"/>
                  </a:solidFill>
                </a:uFill>
                <a:latin typeface="Verdana"/>
                <a:cs typeface="Verdana"/>
              </a:rPr>
              <a:t>	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98420" y="8549204"/>
            <a:ext cx="6579234" cy="454659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>
              <a:lnSpc>
                <a:spcPct val="104400"/>
              </a:lnSpc>
              <a:spcBef>
                <a:spcPts val="85"/>
              </a:spcBef>
            </a:pP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Back-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tested</a:t>
            </a:r>
            <a:r>
              <a:rPr dirty="0" sz="900" spc="-3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returns</a:t>
            </a:r>
            <a:r>
              <a:rPr dirty="0" sz="900" spc="-5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are</a:t>
            </a:r>
            <a:r>
              <a:rPr dirty="0" sz="900" spc="-4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calculated</a:t>
            </a:r>
            <a:r>
              <a:rPr dirty="0" sz="900" spc="-4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based</a:t>
            </a:r>
            <a:r>
              <a:rPr dirty="0" sz="900" spc="-3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on</a:t>
            </a:r>
            <a:r>
              <a:rPr dirty="0" sz="900" spc="-5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the</a:t>
            </a:r>
            <a:r>
              <a:rPr dirty="0" sz="900" spc="-4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historical</a:t>
            </a:r>
            <a:r>
              <a:rPr dirty="0" sz="900" spc="-5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performance</a:t>
            </a:r>
            <a:r>
              <a:rPr dirty="0" sz="900" spc="-5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that</a:t>
            </a:r>
            <a:r>
              <a:rPr dirty="0" sz="900" spc="-4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the</a:t>
            </a:r>
            <a:r>
              <a:rPr dirty="0" sz="900" spc="-4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strategy</a:t>
            </a:r>
            <a:r>
              <a:rPr dirty="0" sz="900" spc="-3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would</a:t>
            </a:r>
            <a:r>
              <a:rPr dirty="0" sz="900" spc="-4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have</a:t>
            </a:r>
            <a:r>
              <a:rPr dirty="0" sz="900" spc="-4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generated</a:t>
            </a:r>
            <a:r>
              <a:rPr dirty="0" sz="900" spc="-4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had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the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funds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been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deployed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across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different</a:t>
            </a:r>
            <a:r>
              <a:rPr dirty="0" sz="900" spc="-3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time</a:t>
            </a:r>
            <a:r>
              <a:rPr dirty="0" sz="900" spc="-1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periods.</a:t>
            </a:r>
            <a:r>
              <a:rPr dirty="0" sz="900" spc="-3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The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above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 mentioned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returns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are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as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on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December</a:t>
            </a:r>
            <a:r>
              <a:rPr dirty="0" sz="900" spc="-3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31,</a:t>
            </a:r>
            <a:r>
              <a:rPr dirty="0" sz="900" spc="-3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2025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and</a:t>
            </a:r>
            <a:r>
              <a:rPr dirty="0" sz="900" spc="-6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are</a:t>
            </a:r>
            <a:r>
              <a:rPr dirty="0" sz="900" spc="-4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shown</a:t>
            </a:r>
            <a:r>
              <a:rPr dirty="0" sz="900" spc="-6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prior</a:t>
            </a:r>
            <a:r>
              <a:rPr dirty="0" sz="900" spc="-4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to</a:t>
            </a:r>
            <a:r>
              <a:rPr dirty="0" sz="900" spc="-6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the</a:t>
            </a:r>
            <a:r>
              <a:rPr dirty="0" sz="900" spc="-5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deduction</a:t>
            </a:r>
            <a:r>
              <a:rPr dirty="0" sz="900" spc="-5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of</a:t>
            </a:r>
            <a:r>
              <a:rPr dirty="0" sz="900" spc="-6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the</a:t>
            </a:r>
            <a:r>
              <a:rPr dirty="0" sz="900" spc="-5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052B6D"/>
                </a:solidFill>
                <a:latin typeface="Verdana"/>
                <a:cs typeface="Verdana"/>
              </a:rPr>
              <a:t>applicable</a:t>
            </a:r>
            <a:r>
              <a:rPr dirty="0" sz="900" spc="-3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fund</a:t>
            </a:r>
            <a:r>
              <a:rPr dirty="0" sz="900" spc="-45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052B6D"/>
                </a:solidFill>
                <a:latin typeface="Verdana"/>
                <a:cs typeface="Verdana"/>
              </a:rPr>
              <a:t>management</a:t>
            </a:r>
            <a:r>
              <a:rPr dirty="0" sz="900" spc="-40">
                <a:solidFill>
                  <a:srgbClr val="052B6D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052B6D"/>
                </a:solidFill>
                <a:latin typeface="Verdana"/>
                <a:cs typeface="Verdana"/>
              </a:rPr>
              <a:t>charges.</a:t>
            </a:r>
            <a:endParaRPr sz="900">
              <a:latin typeface="Verdana"/>
              <a:cs typeface="Verdana"/>
            </a:endParaRPr>
          </a:p>
        </p:txBody>
      </p:sp>
      <p:pic>
        <p:nvPicPr>
          <p:cNvPr id="38" name="object 3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51993" y="3272372"/>
            <a:ext cx="2426529" cy="1595185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5563585" y="39128"/>
            <a:ext cx="18268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25">
                <a:solidFill>
                  <a:srgbClr val="052B6D"/>
                </a:solidFill>
                <a:latin typeface="Verdana"/>
                <a:cs typeface="Verdana"/>
              </a:rPr>
              <a:t>COMP/DOC/Mar/2026/133/2182</a:t>
            </a:r>
            <a:endParaRPr sz="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Priyanshi Jain     /GROUP/ICICIPRU/CNER</dc:creator>
  <dc:title>Microsoft PowerPoint - Funds Factsheet - GWM</dc:title>
  <dcterms:created xsi:type="dcterms:W3CDTF">2026-04-17T09:52:59Z</dcterms:created>
  <dcterms:modified xsi:type="dcterms:W3CDTF">2026-04-17T09:52:59Z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2026-03-17T00:00:00Z</vt:filetime>
  </property>
  <property fmtid="{D5CDD505-2E9C-101B-9397-08002B2CF9AE}" pid="3" name="LastSaved">
    <vt:filetime>2026-04-17T00:00:00Z</vt:filetime>
  </property>
  <property fmtid="{D5CDD505-2E9C-101B-9397-08002B2CF9AE}" pid="4" name="Producer">
    <vt:lpwstr>Microsoft: Print To PDF</vt:lpwstr>
  </property>
</Properties>
</file>