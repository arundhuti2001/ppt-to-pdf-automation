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231" y="293770"/>
            <a:ext cx="7107936" cy="38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9919" y="9258300"/>
            <a:ext cx="4270375" cy="800100"/>
          </a:xfrm>
          <a:prstGeom prst="rect">
            <a:avLst/>
          </a:prstGeom>
          <a:solidFill>
            <a:srgbClr val="97281D"/>
          </a:solidFill>
        </p:spPr>
        <p:txBody>
          <a:bodyPr wrap="square" lIns="0" tIns="40005" rIns="0" bIns="0" rtlCol="0" vert="horz">
            <a:spAutoFit/>
          </a:bodyPr>
          <a:lstStyle/>
          <a:p>
            <a:pPr algn="just" marL="86360" marR="78740">
              <a:lnSpc>
                <a:spcPct val="100000"/>
              </a:lnSpc>
              <a:spcBef>
                <a:spcPts val="315"/>
              </a:spcBef>
            </a:pP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Disclaimer: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 a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part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investment-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linked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products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offered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 by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ICICI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Prudential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Life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Limited,</a:t>
            </a:r>
            <a:r>
              <a:rPr dirty="0" sz="75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GIFT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City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95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IFSC.</a:t>
            </a:r>
            <a:endParaRPr sz="750">
              <a:latin typeface="Verdana"/>
              <a:cs typeface="Verdana"/>
            </a:endParaRPr>
          </a:p>
          <a:p>
            <a:pPr algn="just" marL="86360" marR="78105">
              <a:lnSpc>
                <a:spcPct val="100000"/>
              </a:lnSpc>
              <a:spcBef>
                <a:spcPts val="15"/>
              </a:spcBef>
            </a:pP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Fund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r>
              <a:rPr dirty="0" sz="750" spc="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fluctuate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other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factors.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Past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indicative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future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results.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Returns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shown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for illustrative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purposes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only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guaranteed.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policy,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investment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risk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the portfolio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borne</a:t>
            </a:r>
            <a:r>
              <a:rPr dirty="0" sz="75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policyholder.</a:t>
            </a:r>
            <a:endParaRPr sz="75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4256" y="3521110"/>
          <a:ext cx="3776979" cy="139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305"/>
                <a:gridCol w="758825"/>
                <a:gridCol w="754380"/>
              </a:tblGrid>
              <a:tr h="370840">
                <a:tc>
                  <a:txBody>
                    <a:bodyPr/>
                    <a:lstStyle/>
                    <a:p>
                      <a:pPr marL="6870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Asset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Mix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Min%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Max%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Equity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90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4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Money</a:t>
                      </a:r>
                      <a:r>
                        <a:rPr dirty="0" sz="1400" spc="-9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market</a:t>
                      </a:r>
                      <a:r>
                        <a:rPr dirty="0" sz="1400" spc="-9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cash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</a:tr>
              <a:tr h="34099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Debt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24256" y="3381755"/>
            <a:ext cx="3700779" cy="0"/>
          </a:xfrm>
          <a:custGeom>
            <a:avLst/>
            <a:gdLst/>
            <a:ahLst/>
            <a:cxnLst/>
            <a:rect l="l" t="t" r="r" b="b"/>
            <a:pathLst>
              <a:path w="3700779" h="0">
                <a:moveTo>
                  <a:pt x="0" y="0"/>
                </a:moveTo>
                <a:lnTo>
                  <a:pt x="3700271" y="0"/>
                </a:lnTo>
              </a:path>
            </a:pathLst>
          </a:custGeom>
          <a:ln w="12192">
            <a:solidFill>
              <a:srgbClr val="972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76" y="1513332"/>
            <a:ext cx="310895" cy="2286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2231" y="227075"/>
            <a:ext cx="7105015" cy="574675"/>
          </a:xfrm>
          <a:custGeom>
            <a:avLst/>
            <a:gdLst/>
            <a:ahLst/>
            <a:cxnLst/>
            <a:rect l="l" t="t" r="r" b="b"/>
            <a:pathLst>
              <a:path w="7105015" h="574675">
                <a:moveTo>
                  <a:pt x="7104887" y="574548"/>
                </a:moveTo>
                <a:lnTo>
                  <a:pt x="0" y="574548"/>
                </a:lnTo>
                <a:lnTo>
                  <a:pt x="0" y="0"/>
                </a:lnTo>
                <a:lnTo>
                  <a:pt x="7104887" y="0"/>
                </a:lnTo>
                <a:lnTo>
                  <a:pt x="7104887" y="574548"/>
                </a:lnTo>
                <a:close/>
              </a:path>
            </a:pathLst>
          </a:custGeom>
          <a:solidFill>
            <a:srgbClr val="E677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ICICI</a:t>
            </a:r>
            <a:r>
              <a:rPr dirty="0" spc="-155"/>
              <a:t> </a:t>
            </a:r>
            <a:r>
              <a:rPr dirty="0"/>
              <a:t>Pru</a:t>
            </a:r>
            <a:r>
              <a:rPr dirty="0" spc="-150"/>
              <a:t> </a:t>
            </a:r>
            <a:r>
              <a:rPr dirty="0" spc="-55"/>
              <a:t>India</a:t>
            </a:r>
            <a:r>
              <a:rPr dirty="0" spc="-160"/>
              <a:t> </a:t>
            </a:r>
            <a:r>
              <a:rPr dirty="0" spc="-45"/>
              <a:t>Fund</a:t>
            </a:r>
            <a:r>
              <a:rPr dirty="0" spc="-155"/>
              <a:t> </a:t>
            </a:r>
            <a:r>
              <a:rPr dirty="0"/>
              <a:t>-</a:t>
            </a:r>
            <a:r>
              <a:rPr dirty="0" spc="-165"/>
              <a:t> </a:t>
            </a:r>
            <a:r>
              <a:rPr dirty="0" spc="-10"/>
              <a:t>Large</a:t>
            </a:r>
            <a:r>
              <a:rPr dirty="0" spc="-155"/>
              <a:t> </a:t>
            </a:r>
            <a:r>
              <a:rPr dirty="0" spc="-25"/>
              <a:t>Cap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32231" y="198119"/>
            <a:ext cx="7105015" cy="1056640"/>
            <a:chOff x="332231" y="198119"/>
            <a:chExt cx="7105015" cy="1056640"/>
          </a:xfrm>
        </p:grpSpPr>
        <p:sp>
          <p:nvSpPr>
            <p:cNvPr id="9" name="object 9"/>
            <p:cNvSpPr/>
            <p:nvPr/>
          </p:nvSpPr>
          <p:spPr>
            <a:xfrm>
              <a:off x="332232" y="873251"/>
              <a:ext cx="7105015" cy="358140"/>
            </a:xfrm>
            <a:custGeom>
              <a:avLst/>
              <a:gdLst/>
              <a:ahLst/>
              <a:cxnLst/>
              <a:rect l="l" t="t" r="r" b="b"/>
              <a:pathLst>
                <a:path w="7105015" h="358140">
                  <a:moveTo>
                    <a:pt x="5489448" y="0"/>
                  </a:moveTo>
                  <a:lnTo>
                    <a:pt x="0" y="0"/>
                  </a:lnTo>
                  <a:lnTo>
                    <a:pt x="0" y="358140"/>
                  </a:lnTo>
                  <a:lnTo>
                    <a:pt x="5489448" y="358140"/>
                  </a:lnTo>
                  <a:lnTo>
                    <a:pt x="5489448" y="0"/>
                  </a:lnTo>
                  <a:close/>
                </a:path>
                <a:path w="7105015" h="358140">
                  <a:moveTo>
                    <a:pt x="7104875" y="0"/>
                  </a:moveTo>
                  <a:lnTo>
                    <a:pt x="5990844" y="0"/>
                  </a:lnTo>
                  <a:lnTo>
                    <a:pt x="5990844" y="358140"/>
                  </a:lnTo>
                  <a:lnTo>
                    <a:pt x="7104875" y="358140"/>
                  </a:lnTo>
                  <a:lnTo>
                    <a:pt x="7104875" y="0"/>
                  </a:lnTo>
                  <a:close/>
                </a:path>
              </a:pathLst>
            </a:custGeom>
            <a:solidFill>
              <a:srgbClr val="D1CF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21680" y="729996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501396" y="501396"/>
                  </a:moveTo>
                  <a:lnTo>
                    <a:pt x="0" y="501396"/>
                  </a:lnTo>
                  <a:lnTo>
                    <a:pt x="0" y="0"/>
                  </a:lnTo>
                  <a:lnTo>
                    <a:pt x="501396" y="0"/>
                  </a:lnTo>
                  <a:lnTo>
                    <a:pt x="501396" y="501396"/>
                  </a:lnTo>
                  <a:close/>
                </a:path>
              </a:pathLst>
            </a:custGeom>
            <a:solidFill>
              <a:srgbClr val="E67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63527" y="198119"/>
              <a:ext cx="1148080" cy="1056640"/>
            </a:xfrm>
            <a:custGeom>
              <a:avLst/>
              <a:gdLst/>
              <a:ahLst/>
              <a:cxnLst/>
              <a:rect l="l" t="t" r="r" b="b"/>
              <a:pathLst>
                <a:path w="1148079" h="1056640">
                  <a:moveTo>
                    <a:pt x="644664" y="21348"/>
                  </a:moveTo>
                  <a:lnTo>
                    <a:pt x="323100" y="21348"/>
                  </a:lnTo>
                  <a:lnTo>
                    <a:pt x="0" y="537972"/>
                  </a:lnTo>
                  <a:lnTo>
                    <a:pt x="323100" y="1056132"/>
                  </a:lnTo>
                  <a:lnTo>
                    <a:pt x="644664" y="1056132"/>
                  </a:lnTo>
                  <a:lnTo>
                    <a:pt x="323100" y="537972"/>
                  </a:lnTo>
                  <a:lnTo>
                    <a:pt x="644664" y="21348"/>
                  </a:lnTo>
                  <a:close/>
                </a:path>
                <a:path w="1148079" h="1056640">
                  <a:moveTo>
                    <a:pt x="1147584" y="0"/>
                  </a:moveTo>
                  <a:lnTo>
                    <a:pt x="824484" y="0"/>
                  </a:lnTo>
                  <a:lnTo>
                    <a:pt x="501396" y="518160"/>
                  </a:lnTo>
                  <a:lnTo>
                    <a:pt x="824484" y="1034808"/>
                  </a:lnTo>
                  <a:lnTo>
                    <a:pt x="1147584" y="1034808"/>
                  </a:lnTo>
                  <a:lnTo>
                    <a:pt x="824484" y="518160"/>
                  </a:lnTo>
                  <a:lnTo>
                    <a:pt x="1147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94131" y="901631"/>
            <a:ext cx="7118350" cy="1597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90"/>
              </a:spcBef>
            </a:pP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SFIN </a:t>
            </a:r>
            <a:r>
              <a:rPr dirty="0" sz="1700" spc="-55">
                <a:solidFill>
                  <a:srgbClr val="001F60"/>
                </a:solidFill>
                <a:latin typeface="Verdana"/>
                <a:cs typeface="Verdana"/>
              </a:rPr>
              <a:t>-</a:t>
            </a:r>
            <a:r>
              <a:rPr dirty="0" sz="1700" spc="-12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GIFT </a:t>
            </a:r>
            <a:r>
              <a:rPr dirty="0" sz="1700" spc="-65">
                <a:solidFill>
                  <a:srgbClr val="001F60"/>
                </a:solidFill>
                <a:latin typeface="Verdana"/>
                <a:cs typeface="Verdana"/>
              </a:rPr>
              <a:t>007</a:t>
            </a:r>
            <a:r>
              <a:rPr dirty="0" sz="1700" spc="-13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001F60"/>
                </a:solidFill>
                <a:latin typeface="Verdana"/>
                <a:cs typeface="Verdana"/>
              </a:rPr>
              <a:t>251125</a:t>
            </a:r>
            <a:r>
              <a:rPr dirty="0" sz="1700" spc="-1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75">
                <a:solidFill>
                  <a:srgbClr val="001F60"/>
                </a:solidFill>
                <a:latin typeface="Verdana"/>
                <a:cs typeface="Verdana"/>
              </a:rPr>
              <a:t>InLargeCap</a:t>
            </a:r>
            <a:r>
              <a:rPr dirty="0" sz="1700" spc="-12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001F60"/>
                </a:solidFill>
                <a:latin typeface="Verdana"/>
                <a:cs typeface="Verdana"/>
              </a:rPr>
              <a:t>105</a:t>
            </a:r>
            <a:endParaRPr sz="1700">
              <a:latin typeface="Verdana"/>
              <a:cs typeface="Verdana"/>
            </a:endParaRPr>
          </a:p>
          <a:p>
            <a:pPr marL="4490720">
              <a:lnSpc>
                <a:spcPct val="100000"/>
              </a:lnSpc>
              <a:spcBef>
                <a:spcPts val="1015"/>
              </a:spcBef>
            </a:pPr>
            <a:r>
              <a:rPr dirty="0" sz="1200" spc="-25">
                <a:solidFill>
                  <a:srgbClr val="001F60"/>
                </a:solidFill>
                <a:latin typeface="Verdana"/>
                <a:cs typeface="Verdana"/>
              </a:rPr>
              <a:t>Inception</a:t>
            </a:r>
            <a:r>
              <a:rPr dirty="0" sz="12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001F60"/>
                </a:solidFill>
                <a:latin typeface="Verdana"/>
                <a:cs typeface="Verdana"/>
              </a:rPr>
              <a:t>date: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001F60"/>
                </a:solidFill>
                <a:latin typeface="Verdana"/>
                <a:cs typeface="Verdana"/>
              </a:rPr>
              <a:t>27</a:t>
            </a:r>
            <a:r>
              <a:rPr dirty="0" baseline="24305" sz="1200">
                <a:solidFill>
                  <a:srgbClr val="001F60"/>
                </a:solidFill>
                <a:latin typeface="Verdana"/>
                <a:cs typeface="Verdana"/>
              </a:rPr>
              <a:t>th</a:t>
            </a:r>
            <a:r>
              <a:rPr dirty="0" baseline="24305" sz="1200" spc="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001F60"/>
                </a:solidFill>
                <a:latin typeface="Verdana"/>
                <a:cs typeface="Verdana"/>
              </a:rPr>
              <a:t>January,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01F60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Objective</a:t>
            </a:r>
            <a:endParaRPr sz="1500">
              <a:latin typeface="Verdana"/>
              <a:cs typeface="Verdana"/>
            </a:endParaRPr>
          </a:p>
          <a:p>
            <a:pPr algn="just" marL="318135" marR="454659">
              <a:lnSpc>
                <a:spcPct val="100699"/>
              </a:lnSpc>
              <a:spcBef>
                <a:spcPts val="915"/>
              </a:spcBef>
            </a:pP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To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provide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superior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long-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term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returns 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through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focused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funds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which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invest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in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large-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cap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stocks,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ADRs,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and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GDRs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of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 Indian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companies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001F60"/>
                </a:solidFill>
                <a:latin typeface="Verdana"/>
                <a:cs typeface="Verdana"/>
              </a:rPr>
              <a:t>listed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in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global 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equity</a:t>
            </a:r>
            <a:r>
              <a:rPr dirty="0" sz="14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markets.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3200" y="2768600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Risk</a:t>
            </a:r>
            <a:r>
              <a:rPr dirty="0" sz="15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Meter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900" y="2805176"/>
            <a:ext cx="17081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Composition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" y="2731007"/>
            <a:ext cx="348995" cy="3489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07439" y="5496560"/>
            <a:ext cx="30581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Performance</a:t>
            </a:r>
            <a:r>
              <a:rPr dirty="0" sz="1500" spc="-5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001F60"/>
                </a:solidFill>
                <a:latin typeface="Verdana"/>
                <a:cs typeface="Verdana"/>
              </a:rPr>
              <a:t>(Back-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tested)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" y="5382768"/>
            <a:ext cx="473963" cy="42824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411" y="9353144"/>
            <a:ext cx="2704373" cy="631908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64691" y="6431279"/>
            <a:ext cx="3205480" cy="1534795"/>
            <a:chOff x="964691" y="6431279"/>
            <a:chExt cx="3205480" cy="1534795"/>
          </a:xfrm>
        </p:grpSpPr>
        <p:sp>
          <p:nvSpPr>
            <p:cNvPr id="20" name="object 20"/>
            <p:cNvSpPr/>
            <p:nvPr/>
          </p:nvSpPr>
          <p:spPr>
            <a:xfrm>
              <a:off x="964691" y="6643116"/>
              <a:ext cx="3205480" cy="1056640"/>
            </a:xfrm>
            <a:custGeom>
              <a:avLst/>
              <a:gdLst/>
              <a:ahLst/>
              <a:cxnLst/>
              <a:rect l="l" t="t" r="r" b="b"/>
              <a:pathLst>
                <a:path w="3205479" h="1056640">
                  <a:moveTo>
                    <a:pt x="0" y="1056131"/>
                  </a:moveTo>
                  <a:lnTo>
                    <a:pt x="256032" y="1056131"/>
                  </a:lnTo>
                </a:path>
                <a:path w="3205479" h="1056640">
                  <a:moveTo>
                    <a:pt x="489204" y="1056131"/>
                  </a:moveTo>
                  <a:lnTo>
                    <a:pt x="1057656" y="1056131"/>
                  </a:lnTo>
                </a:path>
                <a:path w="3205479" h="1056640">
                  <a:moveTo>
                    <a:pt x="1290828" y="1056131"/>
                  </a:moveTo>
                  <a:lnTo>
                    <a:pt x="1857756" y="1056131"/>
                  </a:lnTo>
                </a:path>
                <a:path w="3205479" h="1056640">
                  <a:moveTo>
                    <a:pt x="2092452" y="1056131"/>
                  </a:moveTo>
                  <a:lnTo>
                    <a:pt x="3204972" y="1056131"/>
                  </a:lnTo>
                </a:path>
                <a:path w="3205479" h="1056640">
                  <a:moveTo>
                    <a:pt x="0" y="792479"/>
                  </a:moveTo>
                  <a:lnTo>
                    <a:pt x="256032" y="792479"/>
                  </a:lnTo>
                </a:path>
                <a:path w="3205479" h="1056640">
                  <a:moveTo>
                    <a:pt x="489204" y="792479"/>
                  </a:moveTo>
                  <a:lnTo>
                    <a:pt x="1057656" y="792479"/>
                  </a:lnTo>
                </a:path>
                <a:path w="3205479" h="1056640">
                  <a:moveTo>
                    <a:pt x="1290828" y="792479"/>
                  </a:moveTo>
                  <a:lnTo>
                    <a:pt x="1857756" y="792479"/>
                  </a:lnTo>
                </a:path>
                <a:path w="3205479" h="1056640">
                  <a:moveTo>
                    <a:pt x="2092452" y="792479"/>
                  </a:moveTo>
                  <a:lnTo>
                    <a:pt x="3204972" y="792479"/>
                  </a:lnTo>
                </a:path>
                <a:path w="3205479" h="1056640">
                  <a:moveTo>
                    <a:pt x="0" y="527303"/>
                  </a:moveTo>
                  <a:lnTo>
                    <a:pt x="256032" y="527303"/>
                  </a:lnTo>
                </a:path>
                <a:path w="3205479" h="1056640">
                  <a:moveTo>
                    <a:pt x="489204" y="527303"/>
                  </a:moveTo>
                  <a:lnTo>
                    <a:pt x="1057656" y="527303"/>
                  </a:lnTo>
                </a:path>
                <a:path w="3205479" h="1056640">
                  <a:moveTo>
                    <a:pt x="1290828" y="527303"/>
                  </a:moveTo>
                  <a:lnTo>
                    <a:pt x="1857756" y="527303"/>
                  </a:lnTo>
                </a:path>
                <a:path w="3205479" h="1056640">
                  <a:moveTo>
                    <a:pt x="2092452" y="527303"/>
                  </a:moveTo>
                  <a:lnTo>
                    <a:pt x="3204972" y="527303"/>
                  </a:lnTo>
                </a:path>
                <a:path w="3205479" h="1056640">
                  <a:moveTo>
                    <a:pt x="0" y="263651"/>
                  </a:moveTo>
                  <a:lnTo>
                    <a:pt x="256032" y="263651"/>
                  </a:lnTo>
                </a:path>
                <a:path w="3205479" h="1056640">
                  <a:moveTo>
                    <a:pt x="489204" y="263651"/>
                  </a:moveTo>
                  <a:lnTo>
                    <a:pt x="1057656" y="263651"/>
                  </a:lnTo>
                </a:path>
                <a:path w="3205479" h="1056640">
                  <a:moveTo>
                    <a:pt x="1290828" y="263651"/>
                  </a:moveTo>
                  <a:lnTo>
                    <a:pt x="1857756" y="263651"/>
                  </a:lnTo>
                </a:path>
                <a:path w="3205479" h="1056640">
                  <a:moveTo>
                    <a:pt x="2092452" y="263651"/>
                  </a:moveTo>
                  <a:lnTo>
                    <a:pt x="3204972" y="263651"/>
                  </a:lnTo>
                </a:path>
                <a:path w="3205479" h="1056640">
                  <a:moveTo>
                    <a:pt x="0" y="0"/>
                  </a:moveTo>
                  <a:lnTo>
                    <a:pt x="256032" y="0"/>
                  </a:lnTo>
                </a:path>
                <a:path w="3205479" h="1056640">
                  <a:moveTo>
                    <a:pt x="489204" y="0"/>
                  </a:moveTo>
                  <a:lnTo>
                    <a:pt x="1057656" y="0"/>
                  </a:lnTo>
                </a:path>
                <a:path w="3205479" h="1056640">
                  <a:moveTo>
                    <a:pt x="1290828" y="0"/>
                  </a:moveTo>
                  <a:lnTo>
                    <a:pt x="3204972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20724" y="6431279"/>
              <a:ext cx="1836420" cy="1530350"/>
            </a:xfrm>
            <a:custGeom>
              <a:avLst/>
              <a:gdLst/>
              <a:ahLst/>
              <a:cxnLst/>
              <a:rect l="l" t="t" r="r" b="b"/>
              <a:pathLst>
                <a:path w="1836420" h="1530350">
                  <a:moveTo>
                    <a:pt x="233172" y="175260"/>
                  </a:moveTo>
                  <a:lnTo>
                    <a:pt x="0" y="175260"/>
                  </a:lnTo>
                  <a:lnTo>
                    <a:pt x="0" y="1530096"/>
                  </a:lnTo>
                  <a:lnTo>
                    <a:pt x="233172" y="1530096"/>
                  </a:lnTo>
                  <a:lnTo>
                    <a:pt x="233172" y="175260"/>
                  </a:lnTo>
                  <a:close/>
                </a:path>
                <a:path w="1836420" h="1530350">
                  <a:moveTo>
                    <a:pt x="1034796" y="0"/>
                  </a:moveTo>
                  <a:lnTo>
                    <a:pt x="801624" y="0"/>
                  </a:lnTo>
                  <a:lnTo>
                    <a:pt x="801624" y="1530096"/>
                  </a:lnTo>
                  <a:lnTo>
                    <a:pt x="1034796" y="1530096"/>
                  </a:lnTo>
                  <a:lnTo>
                    <a:pt x="1034796" y="0"/>
                  </a:lnTo>
                  <a:close/>
                </a:path>
                <a:path w="1836420" h="1530350">
                  <a:moveTo>
                    <a:pt x="1836420" y="394716"/>
                  </a:moveTo>
                  <a:lnTo>
                    <a:pt x="1601724" y="394716"/>
                  </a:lnTo>
                  <a:lnTo>
                    <a:pt x="1601724" y="1530096"/>
                  </a:lnTo>
                  <a:lnTo>
                    <a:pt x="1836420" y="1530096"/>
                  </a:lnTo>
                  <a:lnTo>
                    <a:pt x="1836420" y="394716"/>
                  </a:lnTo>
                  <a:close/>
                </a:path>
              </a:pathLst>
            </a:custGeom>
            <a:solidFill>
              <a:srgbClr val="052B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64691" y="7961376"/>
              <a:ext cx="3205480" cy="0"/>
            </a:xfrm>
            <a:custGeom>
              <a:avLst/>
              <a:gdLst/>
              <a:ahLst/>
              <a:cxnLst/>
              <a:rect l="l" t="t" r="r" b="b"/>
              <a:pathLst>
                <a:path w="3205479" h="0">
                  <a:moveTo>
                    <a:pt x="0" y="0"/>
                  </a:moveTo>
                  <a:lnTo>
                    <a:pt x="3204972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964691" y="6379464"/>
            <a:ext cx="3205480" cy="0"/>
          </a:xfrm>
          <a:custGeom>
            <a:avLst/>
            <a:gdLst/>
            <a:ahLst/>
            <a:cxnLst/>
            <a:rect l="l" t="t" r="r" b="b"/>
            <a:pathLst>
              <a:path w="3205479" h="0">
                <a:moveTo>
                  <a:pt x="0" y="0"/>
                </a:moveTo>
                <a:lnTo>
                  <a:pt x="3204972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4691" y="6115811"/>
            <a:ext cx="3205480" cy="0"/>
          </a:xfrm>
          <a:custGeom>
            <a:avLst/>
            <a:gdLst/>
            <a:ahLst/>
            <a:cxnLst/>
            <a:rect l="l" t="t" r="r" b="b"/>
            <a:pathLst>
              <a:path w="3205479" h="0">
                <a:moveTo>
                  <a:pt x="0" y="0"/>
                </a:moveTo>
                <a:lnTo>
                  <a:pt x="3204972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67879" y="6360616"/>
            <a:ext cx="541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5">
                <a:solidFill>
                  <a:srgbClr val="052B6D"/>
                </a:solidFill>
                <a:latin typeface="Verdana"/>
                <a:cs typeface="Verdana"/>
              </a:rPr>
              <a:t>10.28%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7964" y="6185414"/>
            <a:ext cx="541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5">
                <a:solidFill>
                  <a:srgbClr val="052B6D"/>
                </a:solidFill>
                <a:latin typeface="Verdana"/>
                <a:cs typeface="Verdana"/>
              </a:rPr>
              <a:t>11.61%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12172" y="6580084"/>
            <a:ext cx="4552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60">
                <a:solidFill>
                  <a:srgbClr val="052B6D"/>
                </a:solidFill>
                <a:latin typeface="Verdana"/>
                <a:cs typeface="Verdana"/>
              </a:rPr>
              <a:t>8.62%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7032" y="5913943"/>
            <a:ext cx="334645" cy="213487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14%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12%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10%</a:t>
            </a:r>
            <a:endParaRPr sz="11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75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8%</a:t>
            </a:r>
            <a:endParaRPr sz="11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75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6%</a:t>
            </a:r>
            <a:endParaRPr sz="11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760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4%</a:t>
            </a:r>
            <a:endParaRPr sz="11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75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2%</a:t>
            </a:r>
            <a:endParaRPr sz="1100">
              <a:latin typeface="Verdana"/>
              <a:cs typeface="Verdana"/>
            </a:endParaRPr>
          </a:p>
          <a:p>
            <a:pPr marL="97790">
              <a:lnSpc>
                <a:spcPct val="100000"/>
              </a:lnSpc>
              <a:spcBef>
                <a:spcPts val="75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5241" y="8046166"/>
            <a:ext cx="54356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3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97475" y="8046166"/>
            <a:ext cx="5422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5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53867" y="8046166"/>
            <a:ext cx="6305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>
                <a:solidFill>
                  <a:srgbClr val="052B6D"/>
                </a:solidFill>
                <a:latin typeface="Verdana"/>
                <a:cs typeface="Verdana"/>
              </a:rPr>
              <a:t>10</a:t>
            </a:r>
            <a:r>
              <a:rPr dirty="0" sz="11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85564" y="5433653"/>
            <a:ext cx="3000375" cy="281432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595"/>
              </a:spcBef>
            </a:pPr>
            <a:r>
              <a:rPr dirty="0" sz="1500" spc="-40">
                <a:solidFill>
                  <a:srgbClr val="001F60"/>
                </a:solidFill>
                <a:latin typeface="Verdana"/>
                <a:cs typeface="Verdana"/>
              </a:rPr>
              <a:t>Illustrative</a:t>
            </a:r>
            <a:r>
              <a:rPr dirty="0" sz="15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001F60"/>
                </a:solidFill>
                <a:latin typeface="Verdana"/>
                <a:cs typeface="Verdana"/>
              </a:rPr>
              <a:t>List</a:t>
            </a:r>
            <a:r>
              <a:rPr dirty="0" sz="15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001F60"/>
                </a:solidFill>
                <a:latin typeface="Verdana"/>
                <a:cs typeface="Verdana"/>
              </a:rPr>
              <a:t>of</a:t>
            </a:r>
            <a:r>
              <a:rPr dirty="0" sz="15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Companies</a:t>
            </a:r>
            <a:endParaRPr sz="1500">
              <a:latin typeface="Verdana"/>
              <a:cs typeface="Verdana"/>
            </a:endParaRPr>
          </a:p>
          <a:p>
            <a:pPr marL="161925" marR="1215390">
              <a:lnSpc>
                <a:spcPct val="115700"/>
              </a:lnSpc>
              <a:spcBef>
                <a:spcPts val="220"/>
              </a:spcBef>
            </a:pP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State</a:t>
            </a:r>
            <a:r>
              <a:rPr dirty="0" sz="14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Bank</a:t>
            </a:r>
            <a:r>
              <a:rPr dirty="0" sz="1400" spc="-12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001F60"/>
                </a:solidFill>
                <a:latin typeface="Verdana"/>
                <a:cs typeface="Verdana"/>
              </a:rPr>
              <a:t>of</a:t>
            </a:r>
            <a:r>
              <a:rPr dirty="0" sz="1400" spc="-10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India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Vedanta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</a:t>
            </a:r>
            <a:endParaRPr sz="1400">
              <a:latin typeface="Verdana"/>
              <a:cs typeface="Verdana"/>
            </a:endParaRPr>
          </a:p>
          <a:p>
            <a:pPr marL="161925" marR="600710">
              <a:lnSpc>
                <a:spcPct val="115700"/>
              </a:lnSpc>
            </a:pP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Oil</a:t>
            </a:r>
            <a:r>
              <a:rPr dirty="0" sz="1400" spc="-114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&amp;</a:t>
            </a:r>
            <a:r>
              <a:rPr dirty="0" sz="1400" spc="-8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Natural</a:t>
            </a:r>
            <a:r>
              <a:rPr dirty="0" sz="14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Gas</a:t>
            </a:r>
            <a:r>
              <a:rPr dirty="0" sz="1400" spc="-10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Corp</a:t>
            </a:r>
            <a:r>
              <a:rPr dirty="0" sz="14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NTPC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</a:t>
            </a:r>
            <a:endParaRPr sz="1400">
              <a:latin typeface="Verdana"/>
              <a:cs typeface="Verdana"/>
            </a:endParaRPr>
          </a:p>
          <a:p>
            <a:pPr marL="161925" marR="438784">
              <a:lnSpc>
                <a:spcPct val="115700"/>
              </a:lnSpc>
            </a:pP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Torrent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Pharmaceuticals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 Ashok</a:t>
            </a:r>
            <a:r>
              <a:rPr dirty="0" sz="1400" spc="-10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Leyland</a:t>
            </a:r>
            <a:r>
              <a:rPr dirty="0" sz="1400" spc="-9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</a:t>
            </a:r>
            <a:endParaRPr sz="1400">
              <a:latin typeface="Verdana"/>
              <a:cs typeface="Verdana"/>
            </a:endParaRPr>
          </a:p>
          <a:p>
            <a:pPr marL="161925" marR="1377315">
              <a:lnSpc>
                <a:spcPct val="115599"/>
              </a:lnSpc>
            </a:pP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Coal</a:t>
            </a:r>
            <a:r>
              <a:rPr dirty="0" sz="14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India</a:t>
            </a:r>
            <a:r>
              <a:rPr dirty="0" sz="1400" spc="-8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 </a:t>
            </a:r>
            <a:r>
              <a:rPr dirty="0" sz="1400" spc="-80">
                <a:solidFill>
                  <a:srgbClr val="001F60"/>
                </a:solidFill>
                <a:latin typeface="Verdana"/>
                <a:cs typeface="Verdana"/>
              </a:rPr>
              <a:t>Indus</a:t>
            </a:r>
            <a:r>
              <a:rPr dirty="0" sz="14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Towers</a:t>
            </a:r>
            <a:r>
              <a:rPr dirty="0" sz="1400" spc="-8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</a:t>
            </a:r>
            <a:endParaRPr sz="1400">
              <a:latin typeface="Verdana"/>
              <a:cs typeface="Verdana"/>
            </a:endParaRPr>
          </a:p>
          <a:p>
            <a:pPr marL="161925">
              <a:lnSpc>
                <a:spcPct val="100000"/>
              </a:lnSpc>
              <a:spcBef>
                <a:spcPts val="265"/>
              </a:spcBef>
            </a:pP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Hindalco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Industries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Ltd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987040" algn="l"/>
              </a:tabLst>
            </a:pPr>
            <a:r>
              <a:rPr dirty="0" u="sng" sz="1400" spc="26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40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1400" spc="-12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1400" spc="-3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Financial</a:t>
            </a:r>
            <a:r>
              <a:rPr dirty="0" u="sng" sz="1400" spc="-12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1400" spc="-6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Services</a:t>
            </a:r>
            <a:r>
              <a:rPr dirty="0" u="sng" sz="1400" spc="-8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1400" spc="-2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Ltd</a:t>
            </a:r>
            <a:r>
              <a:rPr dirty="0" u="sng" sz="140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	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8420" y="8549204"/>
            <a:ext cx="6579234" cy="45465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4400"/>
              </a:lnSpc>
              <a:spcBef>
                <a:spcPts val="85"/>
              </a:spcBef>
            </a:pP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Back-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tested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returns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calculated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based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historical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performance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that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strategy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would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have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generated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had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funds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been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deployed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across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different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time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periods.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above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mentioned</a:t>
            </a:r>
            <a:r>
              <a:rPr dirty="0" sz="900" spc="-1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returns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as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September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30,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2025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and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shown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prior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to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deduction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of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applicable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fund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management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charges.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59687" y="3205358"/>
            <a:ext cx="2460455" cy="1662176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563585" y="39128"/>
            <a:ext cx="18268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COMP/DOC/Mar/2026/133/2182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Priyanshi Jain     /GROUP/ICICIPRU/CNER</dc:creator>
  <dc:title>Microsoft PowerPoint - Funds Factsheet - GWM</dc:title>
  <dcterms:created xsi:type="dcterms:W3CDTF">2026-04-17T09:51:31Z</dcterms:created>
  <dcterms:modified xsi:type="dcterms:W3CDTF">2026-04-17T09:51:31Z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2026-04-17T00:00:00Z</vt:filetime>
  </property>
  <property fmtid="{D5CDD505-2E9C-101B-9397-08002B2CF9AE}" pid="4" name="Producer">
    <vt:lpwstr>Microsoft: Print To PDF</vt:lpwstr>
  </property>
</Properties>
</file>