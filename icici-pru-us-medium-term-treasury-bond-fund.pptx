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2231" y="160944"/>
            <a:ext cx="7105015" cy="678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69919" y="9258300"/>
            <a:ext cx="4270375" cy="800100"/>
          </a:xfrm>
          <a:prstGeom prst="rect">
            <a:avLst/>
          </a:prstGeom>
          <a:solidFill>
            <a:srgbClr val="97281D"/>
          </a:solidFill>
        </p:spPr>
        <p:txBody>
          <a:bodyPr wrap="square" lIns="0" tIns="40005" rIns="0" bIns="0" rtlCol="0" vert="horz">
            <a:spAutoFit/>
          </a:bodyPr>
          <a:lstStyle/>
          <a:p>
            <a:pPr algn="just" marL="86360" marR="78740">
              <a:lnSpc>
                <a:spcPct val="100000"/>
              </a:lnSpc>
              <a:spcBef>
                <a:spcPts val="315"/>
              </a:spcBef>
            </a:pPr>
            <a:r>
              <a:rPr dirty="0" sz="750" spc="-35">
                <a:solidFill>
                  <a:srgbClr val="FFFFFF"/>
                </a:solidFill>
                <a:latin typeface="Verdana"/>
                <a:cs typeface="Verdana"/>
              </a:rPr>
              <a:t>Disclaimer:</a:t>
            </a:r>
            <a:r>
              <a:rPr dirty="0" sz="750" spc="-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FFFFFF"/>
                </a:solidFill>
                <a:latin typeface="Verdana"/>
                <a:cs typeface="Verdana"/>
              </a:rPr>
              <a:t>The </a:t>
            </a:r>
            <a:r>
              <a:rPr dirty="0" sz="750" spc="-35">
                <a:solidFill>
                  <a:srgbClr val="FFFFFF"/>
                </a:solidFill>
                <a:latin typeface="Verdana"/>
                <a:cs typeface="Verdana"/>
              </a:rPr>
              <a:t>Fund(s)</a:t>
            </a:r>
            <a:r>
              <a:rPr dirty="0" sz="750" spc="-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is a</a:t>
            </a:r>
            <a:r>
              <a:rPr dirty="0" sz="750" spc="-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10">
                <a:solidFill>
                  <a:srgbClr val="FFFFFF"/>
                </a:solidFill>
                <a:latin typeface="Verdana"/>
                <a:cs typeface="Verdana"/>
              </a:rPr>
              <a:t>part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dirty="0" sz="750" spc="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40">
                <a:solidFill>
                  <a:srgbClr val="FFFFFF"/>
                </a:solidFill>
                <a:latin typeface="Verdana"/>
                <a:cs typeface="Verdana"/>
              </a:rPr>
              <a:t>investment-</a:t>
            </a:r>
            <a:r>
              <a:rPr dirty="0" sz="750" spc="-20">
                <a:solidFill>
                  <a:srgbClr val="FFFFFF"/>
                </a:solidFill>
                <a:latin typeface="Verdana"/>
                <a:cs typeface="Verdana"/>
              </a:rPr>
              <a:t>linked</a:t>
            </a:r>
            <a:r>
              <a:rPr dirty="0" sz="750" spc="-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25">
                <a:solidFill>
                  <a:srgbClr val="FFFFFF"/>
                </a:solidFill>
                <a:latin typeface="Verdana"/>
                <a:cs typeface="Verdana"/>
              </a:rPr>
              <a:t>insurance</a:t>
            </a:r>
            <a:r>
              <a:rPr dirty="0" sz="750" spc="-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FFFFFF"/>
                </a:solidFill>
                <a:latin typeface="Verdana"/>
                <a:cs typeface="Verdana"/>
              </a:rPr>
              <a:t>products</a:t>
            </a:r>
            <a:r>
              <a:rPr dirty="0" sz="750" spc="-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FFFFFF"/>
                </a:solidFill>
                <a:latin typeface="Verdana"/>
                <a:cs typeface="Verdana"/>
              </a:rPr>
              <a:t>offered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 by</a:t>
            </a:r>
            <a:r>
              <a:rPr dirty="0" sz="750" spc="-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FFFFFF"/>
                </a:solidFill>
                <a:latin typeface="Verdana"/>
                <a:cs typeface="Verdana"/>
              </a:rPr>
              <a:t>ICICI </a:t>
            </a:r>
            <a:r>
              <a:rPr dirty="0" sz="750" spc="-25">
                <a:solidFill>
                  <a:srgbClr val="FFFFFF"/>
                </a:solidFill>
                <a:latin typeface="Verdana"/>
                <a:cs typeface="Verdana"/>
              </a:rPr>
              <a:t>Prudential </a:t>
            </a:r>
            <a:r>
              <a:rPr dirty="0" sz="750" spc="-20">
                <a:solidFill>
                  <a:srgbClr val="FFFFFF"/>
                </a:solidFill>
                <a:latin typeface="Verdana"/>
                <a:cs typeface="Verdana"/>
              </a:rPr>
              <a:t>Life </a:t>
            </a:r>
            <a:r>
              <a:rPr dirty="0" sz="750" spc="-45">
                <a:solidFill>
                  <a:srgbClr val="FFFFFF"/>
                </a:solidFill>
                <a:latin typeface="Verdana"/>
                <a:cs typeface="Verdana"/>
              </a:rPr>
              <a:t>Insurance</a:t>
            </a:r>
            <a:r>
              <a:rPr dirty="0" sz="750" spc="-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35">
                <a:solidFill>
                  <a:srgbClr val="FFFFFF"/>
                </a:solidFill>
                <a:latin typeface="Verdana"/>
                <a:cs typeface="Verdana"/>
              </a:rPr>
              <a:t>Company</a:t>
            </a:r>
            <a:r>
              <a:rPr dirty="0" sz="750" spc="-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40">
                <a:solidFill>
                  <a:srgbClr val="FFFFFF"/>
                </a:solidFill>
                <a:latin typeface="Verdana"/>
                <a:cs typeface="Verdana"/>
              </a:rPr>
              <a:t>Limited,</a:t>
            </a:r>
            <a:r>
              <a:rPr dirty="0" sz="75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45">
                <a:solidFill>
                  <a:srgbClr val="FFFFFF"/>
                </a:solidFill>
                <a:latin typeface="Verdana"/>
                <a:cs typeface="Verdana"/>
              </a:rPr>
              <a:t>GIFT</a:t>
            </a:r>
            <a:r>
              <a:rPr dirty="0" sz="750" spc="-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30">
                <a:solidFill>
                  <a:srgbClr val="FFFFFF"/>
                </a:solidFill>
                <a:latin typeface="Verdana"/>
                <a:cs typeface="Verdana"/>
              </a:rPr>
              <a:t>City</a:t>
            </a:r>
            <a:r>
              <a:rPr dirty="0" sz="750" spc="-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95">
                <a:solidFill>
                  <a:srgbClr val="FFFFFF"/>
                </a:solidFill>
                <a:latin typeface="Verdana"/>
                <a:cs typeface="Verdana"/>
              </a:rPr>
              <a:t>–</a:t>
            </a:r>
            <a:r>
              <a:rPr dirty="0" sz="750" spc="-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FFFFFF"/>
                </a:solidFill>
                <a:latin typeface="Verdana"/>
                <a:cs typeface="Verdana"/>
              </a:rPr>
              <a:t>IFSC.</a:t>
            </a:r>
            <a:endParaRPr sz="750">
              <a:latin typeface="Verdana"/>
              <a:cs typeface="Verdana"/>
            </a:endParaRPr>
          </a:p>
          <a:p>
            <a:pPr algn="just" marL="86360" marR="78105">
              <a:lnSpc>
                <a:spcPct val="100000"/>
              </a:lnSpc>
              <a:spcBef>
                <a:spcPts val="15"/>
              </a:spcBef>
            </a:pP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Fund</a:t>
            </a:r>
            <a:r>
              <a:rPr dirty="0" sz="750" spc="1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values</a:t>
            </a:r>
            <a:r>
              <a:rPr dirty="0" sz="750" spc="1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may</a:t>
            </a:r>
            <a:r>
              <a:rPr dirty="0" sz="750" spc="1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fluctuate</a:t>
            </a:r>
            <a:r>
              <a:rPr dirty="0" sz="750" spc="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based</a:t>
            </a:r>
            <a:r>
              <a:rPr dirty="0" sz="750" spc="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dirty="0" sz="750" spc="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market</a:t>
            </a:r>
            <a:r>
              <a:rPr dirty="0" sz="750" spc="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performance</a:t>
            </a:r>
            <a:r>
              <a:rPr dirty="0" sz="750" spc="1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750" spc="1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other</a:t>
            </a:r>
            <a:r>
              <a:rPr dirty="0" sz="750" spc="1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factors.</a:t>
            </a:r>
            <a:r>
              <a:rPr dirty="0" sz="750" spc="1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FFFFFF"/>
                </a:solidFill>
                <a:latin typeface="Verdana"/>
                <a:cs typeface="Verdana"/>
              </a:rPr>
              <a:t>Past </a:t>
            </a:r>
            <a:r>
              <a:rPr dirty="0" sz="750" spc="-10">
                <a:solidFill>
                  <a:srgbClr val="FFFFFF"/>
                </a:solidFill>
                <a:latin typeface="Verdana"/>
                <a:cs typeface="Verdana"/>
              </a:rPr>
              <a:t>performance</a:t>
            </a:r>
            <a:r>
              <a:rPr dirty="0" sz="750" spc="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dirty="0" sz="750" spc="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dirty="0" sz="750" spc="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FFFFFF"/>
                </a:solidFill>
                <a:latin typeface="Verdana"/>
                <a:cs typeface="Verdana"/>
              </a:rPr>
              <a:t>Fund(s)</a:t>
            </a:r>
            <a:r>
              <a:rPr dirty="0" sz="750" spc="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dirty="0" sz="750" spc="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not</a:t>
            </a:r>
            <a:r>
              <a:rPr dirty="0" sz="750" spc="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10">
                <a:solidFill>
                  <a:srgbClr val="FFFFFF"/>
                </a:solidFill>
                <a:latin typeface="Verdana"/>
                <a:cs typeface="Verdana"/>
              </a:rPr>
              <a:t>indicative</a:t>
            </a:r>
            <a:r>
              <a:rPr dirty="0" sz="750" spc="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dirty="0" sz="750" spc="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future</a:t>
            </a:r>
            <a:r>
              <a:rPr dirty="0" sz="750" spc="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10">
                <a:solidFill>
                  <a:srgbClr val="FFFFFF"/>
                </a:solidFill>
                <a:latin typeface="Verdana"/>
                <a:cs typeface="Verdana"/>
              </a:rPr>
              <a:t>results.</a:t>
            </a:r>
            <a:r>
              <a:rPr dirty="0" sz="750" spc="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Returns</a:t>
            </a:r>
            <a:r>
              <a:rPr dirty="0" sz="750" spc="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shown</a:t>
            </a:r>
            <a:r>
              <a:rPr dirty="0" sz="750" spc="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are</a:t>
            </a:r>
            <a:r>
              <a:rPr dirty="0" sz="750" spc="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25">
                <a:solidFill>
                  <a:srgbClr val="FFFFFF"/>
                </a:solidFill>
                <a:latin typeface="Verdana"/>
                <a:cs typeface="Verdana"/>
              </a:rPr>
              <a:t>for illustrative</a:t>
            </a:r>
            <a:r>
              <a:rPr dirty="0" sz="750" spc="-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FFFFFF"/>
                </a:solidFill>
                <a:latin typeface="Verdana"/>
                <a:cs typeface="Verdana"/>
              </a:rPr>
              <a:t>purposes</a:t>
            </a:r>
            <a:r>
              <a:rPr dirty="0" sz="750" spc="-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FFFFFF"/>
                </a:solidFill>
                <a:latin typeface="Verdana"/>
                <a:cs typeface="Verdana"/>
              </a:rPr>
              <a:t>only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750" spc="-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FFFFFF"/>
                </a:solidFill>
                <a:latin typeface="Verdana"/>
                <a:cs typeface="Verdana"/>
              </a:rPr>
              <a:t>are</a:t>
            </a:r>
            <a:r>
              <a:rPr dirty="0" sz="750" spc="-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10">
                <a:solidFill>
                  <a:srgbClr val="FFFFFF"/>
                </a:solidFill>
                <a:latin typeface="Verdana"/>
                <a:cs typeface="Verdana"/>
              </a:rPr>
              <a:t>not</a:t>
            </a:r>
            <a:r>
              <a:rPr dirty="0" sz="750" spc="-30">
                <a:solidFill>
                  <a:srgbClr val="FFFFFF"/>
                </a:solidFill>
                <a:latin typeface="Verdana"/>
                <a:cs typeface="Verdana"/>
              </a:rPr>
              <a:t> guaranteed.</a:t>
            </a:r>
            <a:r>
              <a:rPr dirty="0" sz="750" spc="-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85">
                <a:solidFill>
                  <a:srgbClr val="FFFFFF"/>
                </a:solidFill>
                <a:latin typeface="Verdana"/>
                <a:cs typeface="Verdana"/>
              </a:rPr>
              <a:t>In</a:t>
            </a:r>
            <a:r>
              <a:rPr dirty="0" sz="750" spc="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FFFFFF"/>
                </a:solidFill>
                <a:latin typeface="Verdana"/>
                <a:cs typeface="Verdana"/>
              </a:rPr>
              <a:t>this</a:t>
            </a:r>
            <a:r>
              <a:rPr dirty="0" sz="750" spc="-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30">
                <a:solidFill>
                  <a:srgbClr val="FFFFFF"/>
                </a:solidFill>
                <a:latin typeface="Verdana"/>
                <a:cs typeface="Verdana"/>
              </a:rPr>
              <a:t>policy,</a:t>
            </a:r>
            <a:r>
              <a:rPr dirty="0" sz="750" spc="-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dirty="0" sz="750" spc="-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35">
                <a:solidFill>
                  <a:srgbClr val="FFFFFF"/>
                </a:solidFill>
                <a:latin typeface="Verdana"/>
                <a:cs typeface="Verdana"/>
              </a:rPr>
              <a:t>investment</a:t>
            </a:r>
            <a:r>
              <a:rPr dirty="0" sz="750" spc="-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FFFFFF"/>
                </a:solidFill>
                <a:latin typeface="Verdana"/>
                <a:cs typeface="Verdana"/>
              </a:rPr>
              <a:t>risk</a:t>
            </a:r>
            <a:r>
              <a:rPr dirty="0" sz="750" spc="-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in</a:t>
            </a:r>
            <a:r>
              <a:rPr dirty="0" sz="750" spc="-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25">
                <a:solidFill>
                  <a:srgbClr val="FFFFFF"/>
                </a:solidFill>
                <a:latin typeface="Verdana"/>
                <a:cs typeface="Verdana"/>
              </a:rPr>
              <a:t>the portfolio</a:t>
            </a:r>
            <a:r>
              <a:rPr dirty="0" sz="750" spc="-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1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dirty="0" sz="750" spc="-35">
                <a:solidFill>
                  <a:srgbClr val="FFFFFF"/>
                </a:solidFill>
                <a:latin typeface="Verdana"/>
                <a:cs typeface="Verdana"/>
              </a:rPr>
              <a:t> borne</a:t>
            </a:r>
            <a:r>
              <a:rPr dirty="0" sz="750" spc="-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30">
                <a:solidFill>
                  <a:srgbClr val="FFFFFF"/>
                </a:solidFill>
                <a:latin typeface="Verdana"/>
                <a:cs typeface="Verdana"/>
              </a:rPr>
              <a:t>by</a:t>
            </a:r>
            <a:r>
              <a:rPr dirty="0" sz="750" spc="-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45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dirty="0" sz="750" spc="-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10">
                <a:solidFill>
                  <a:srgbClr val="FFFFFF"/>
                </a:solidFill>
                <a:latin typeface="Verdana"/>
                <a:cs typeface="Verdana"/>
              </a:rPr>
              <a:t>policyholder.</a:t>
            </a:r>
            <a:endParaRPr sz="750">
              <a:latin typeface="Verdana"/>
              <a:cs typeface="Verdan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24256" y="3521110"/>
          <a:ext cx="3776979" cy="1390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6305"/>
                <a:gridCol w="758825"/>
                <a:gridCol w="754380"/>
              </a:tblGrid>
              <a:tr h="370840">
                <a:tc>
                  <a:txBody>
                    <a:bodyPr/>
                    <a:lstStyle/>
                    <a:p>
                      <a:pPr marL="68707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400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Asset</a:t>
                      </a:r>
                      <a:r>
                        <a:rPr dirty="0" sz="1400" spc="-110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25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Mix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2540">
                    <a:lnB w="12700">
                      <a:solidFill>
                        <a:srgbClr val="97281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889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400" spc="-20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Min%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2540">
                    <a:lnB w="12700">
                      <a:solidFill>
                        <a:srgbClr val="97281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400" spc="-20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Max%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2540">
                    <a:lnB w="12700">
                      <a:solidFill>
                        <a:srgbClr val="97281D"/>
                      </a:solidFill>
                      <a:prstDash val="solid"/>
                    </a:lnB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marL="762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400" spc="-10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Equity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59690">
                    <a:lnT w="12700">
                      <a:solidFill>
                        <a:srgbClr val="97281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4762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00" spc="-50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58419">
                    <a:lnT w="12700">
                      <a:solidFill>
                        <a:srgbClr val="97281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00" spc="-50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58419">
                    <a:lnT w="12700">
                      <a:solidFill>
                        <a:srgbClr val="97281D"/>
                      </a:solidFill>
                      <a:prstDash val="solid"/>
                    </a:lnT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 marL="762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400" spc="-45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Money</a:t>
                      </a:r>
                      <a:r>
                        <a:rPr dirty="0" sz="1400" spc="-95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65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market</a:t>
                      </a:r>
                      <a:r>
                        <a:rPr dirty="0" sz="1400" spc="-90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25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1400" spc="-110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20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cash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60960"/>
                </a:tc>
                <a:tc>
                  <a:txBody>
                    <a:bodyPr/>
                    <a:lstStyle/>
                    <a:p>
                      <a:pPr algn="ctr" marL="4762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1400" spc="-50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59055"/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1400" spc="-25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59055"/>
                </a:tc>
              </a:tr>
              <a:tr h="340995">
                <a:tc>
                  <a:txBody>
                    <a:bodyPr/>
                    <a:lstStyle/>
                    <a:p>
                      <a:pPr marL="762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400" spc="-20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Debt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59690">
                    <a:lnB w="12700">
                      <a:solidFill>
                        <a:srgbClr val="97281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889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400" spc="-25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90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59690">
                    <a:lnB w="12700">
                      <a:solidFill>
                        <a:srgbClr val="97281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400" spc="-25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100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59690">
                    <a:lnB w="12700">
                      <a:solidFill>
                        <a:srgbClr val="97281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524256" y="3139440"/>
            <a:ext cx="6916420" cy="1737360"/>
            <a:chOff x="524256" y="3139440"/>
            <a:chExt cx="6916420" cy="1737360"/>
          </a:xfrm>
        </p:grpSpPr>
        <p:sp>
          <p:nvSpPr>
            <p:cNvPr id="5" name="object 5"/>
            <p:cNvSpPr/>
            <p:nvPr/>
          </p:nvSpPr>
          <p:spPr>
            <a:xfrm>
              <a:off x="524256" y="3381756"/>
              <a:ext cx="3700779" cy="0"/>
            </a:xfrm>
            <a:custGeom>
              <a:avLst/>
              <a:gdLst/>
              <a:ahLst/>
              <a:cxnLst/>
              <a:rect l="l" t="t" r="r" b="b"/>
              <a:pathLst>
                <a:path w="3700779" h="0">
                  <a:moveTo>
                    <a:pt x="0" y="0"/>
                  </a:moveTo>
                  <a:lnTo>
                    <a:pt x="3700271" y="0"/>
                  </a:lnTo>
                </a:path>
              </a:pathLst>
            </a:custGeom>
            <a:ln w="12192">
              <a:solidFill>
                <a:srgbClr val="97281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47029" y="3479292"/>
              <a:ext cx="2528078" cy="139707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89476" y="3139440"/>
              <a:ext cx="3250691" cy="323087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9976" y="1513332"/>
            <a:ext cx="310895" cy="228600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332231" y="227075"/>
            <a:ext cx="7105015" cy="574675"/>
          </a:xfrm>
          <a:custGeom>
            <a:avLst/>
            <a:gdLst/>
            <a:ahLst/>
            <a:cxnLst/>
            <a:rect l="l" t="t" r="r" b="b"/>
            <a:pathLst>
              <a:path w="7105015" h="574675">
                <a:moveTo>
                  <a:pt x="7104887" y="574548"/>
                </a:moveTo>
                <a:lnTo>
                  <a:pt x="0" y="574548"/>
                </a:lnTo>
                <a:lnTo>
                  <a:pt x="0" y="0"/>
                </a:lnTo>
                <a:lnTo>
                  <a:pt x="7104887" y="0"/>
                </a:lnTo>
                <a:lnTo>
                  <a:pt x="7104887" y="574548"/>
                </a:lnTo>
                <a:close/>
              </a:path>
            </a:pathLst>
          </a:custGeom>
          <a:solidFill>
            <a:srgbClr val="E677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332231" y="160944"/>
            <a:ext cx="7105015" cy="678180"/>
          </a:xfrm>
          <a:prstGeom prst="rect"/>
        </p:spPr>
        <p:txBody>
          <a:bodyPr wrap="square" lIns="0" tIns="28575" rIns="0" bIns="0" rtlCol="0" vert="horz">
            <a:spAutoFit/>
          </a:bodyPr>
          <a:lstStyle/>
          <a:p>
            <a:pPr marL="85090" marR="2227580">
              <a:lnSpc>
                <a:spcPts val="2540"/>
              </a:lnSpc>
              <a:spcBef>
                <a:spcPts val="225"/>
              </a:spcBef>
            </a:pPr>
            <a:r>
              <a:rPr dirty="0" spc="-170"/>
              <a:t>ICICI</a:t>
            </a:r>
            <a:r>
              <a:rPr dirty="0" spc="-145"/>
              <a:t> </a:t>
            </a:r>
            <a:r>
              <a:rPr dirty="0"/>
              <a:t>Pru</a:t>
            </a:r>
            <a:r>
              <a:rPr dirty="0" spc="-114"/>
              <a:t> </a:t>
            </a:r>
            <a:r>
              <a:rPr dirty="0"/>
              <a:t>US</a:t>
            </a:r>
            <a:r>
              <a:rPr dirty="0" spc="-145"/>
              <a:t> </a:t>
            </a:r>
            <a:r>
              <a:rPr dirty="0" spc="-30"/>
              <a:t>Medium</a:t>
            </a:r>
            <a:r>
              <a:rPr dirty="0" spc="-145"/>
              <a:t> </a:t>
            </a:r>
            <a:r>
              <a:rPr dirty="0" spc="-55"/>
              <a:t>Term</a:t>
            </a:r>
            <a:r>
              <a:rPr dirty="0" spc="-105"/>
              <a:t> </a:t>
            </a:r>
            <a:r>
              <a:rPr dirty="0" spc="-10"/>
              <a:t>Treasury </a:t>
            </a:r>
            <a:r>
              <a:rPr dirty="0"/>
              <a:t>Bond</a:t>
            </a:r>
            <a:r>
              <a:rPr dirty="0" spc="-150"/>
              <a:t> </a:t>
            </a:r>
            <a:r>
              <a:rPr dirty="0" spc="-20"/>
              <a:t>Fund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332231" y="198119"/>
            <a:ext cx="7105015" cy="1056640"/>
            <a:chOff x="332231" y="198119"/>
            <a:chExt cx="7105015" cy="1056640"/>
          </a:xfrm>
        </p:grpSpPr>
        <p:sp>
          <p:nvSpPr>
            <p:cNvPr id="12" name="object 12"/>
            <p:cNvSpPr/>
            <p:nvPr/>
          </p:nvSpPr>
          <p:spPr>
            <a:xfrm>
              <a:off x="332232" y="873251"/>
              <a:ext cx="7105015" cy="358140"/>
            </a:xfrm>
            <a:custGeom>
              <a:avLst/>
              <a:gdLst/>
              <a:ahLst/>
              <a:cxnLst/>
              <a:rect l="l" t="t" r="r" b="b"/>
              <a:pathLst>
                <a:path w="7105015" h="358140">
                  <a:moveTo>
                    <a:pt x="5489448" y="0"/>
                  </a:moveTo>
                  <a:lnTo>
                    <a:pt x="0" y="0"/>
                  </a:lnTo>
                  <a:lnTo>
                    <a:pt x="0" y="358140"/>
                  </a:lnTo>
                  <a:lnTo>
                    <a:pt x="5489448" y="358140"/>
                  </a:lnTo>
                  <a:lnTo>
                    <a:pt x="5489448" y="0"/>
                  </a:lnTo>
                  <a:close/>
                </a:path>
                <a:path w="7105015" h="358140">
                  <a:moveTo>
                    <a:pt x="7104875" y="0"/>
                  </a:moveTo>
                  <a:lnTo>
                    <a:pt x="5990844" y="0"/>
                  </a:lnTo>
                  <a:lnTo>
                    <a:pt x="5990844" y="358140"/>
                  </a:lnTo>
                  <a:lnTo>
                    <a:pt x="7104875" y="358140"/>
                  </a:lnTo>
                  <a:lnTo>
                    <a:pt x="7104875" y="0"/>
                  </a:lnTo>
                  <a:close/>
                </a:path>
              </a:pathLst>
            </a:custGeom>
            <a:solidFill>
              <a:srgbClr val="D1CFB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821680" y="729996"/>
              <a:ext cx="501650" cy="501650"/>
            </a:xfrm>
            <a:custGeom>
              <a:avLst/>
              <a:gdLst/>
              <a:ahLst/>
              <a:cxnLst/>
              <a:rect l="l" t="t" r="r" b="b"/>
              <a:pathLst>
                <a:path w="501650" h="501650">
                  <a:moveTo>
                    <a:pt x="501396" y="501396"/>
                  </a:moveTo>
                  <a:lnTo>
                    <a:pt x="0" y="501396"/>
                  </a:lnTo>
                  <a:lnTo>
                    <a:pt x="0" y="0"/>
                  </a:lnTo>
                  <a:lnTo>
                    <a:pt x="501396" y="0"/>
                  </a:lnTo>
                  <a:lnTo>
                    <a:pt x="501396" y="501396"/>
                  </a:lnTo>
                  <a:close/>
                </a:path>
              </a:pathLst>
            </a:custGeom>
            <a:solidFill>
              <a:srgbClr val="E677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463527" y="198119"/>
              <a:ext cx="1148080" cy="1056640"/>
            </a:xfrm>
            <a:custGeom>
              <a:avLst/>
              <a:gdLst/>
              <a:ahLst/>
              <a:cxnLst/>
              <a:rect l="l" t="t" r="r" b="b"/>
              <a:pathLst>
                <a:path w="1148079" h="1056640">
                  <a:moveTo>
                    <a:pt x="644664" y="21348"/>
                  </a:moveTo>
                  <a:lnTo>
                    <a:pt x="323100" y="21348"/>
                  </a:lnTo>
                  <a:lnTo>
                    <a:pt x="0" y="537972"/>
                  </a:lnTo>
                  <a:lnTo>
                    <a:pt x="323100" y="1056132"/>
                  </a:lnTo>
                  <a:lnTo>
                    <a:pt x="644664" y="1056132"/>
                  </a:lnTo>
                  <a:lnTo>
                    <a:pt x="323100" y="537972"/>
                  </a:lnTo>
                  <a:lnTo>
                    <a:pt x="644664" y="21348"/>
                  </a:lnTo>
                  <a:close/>
                </a:path>
                <a:path w="1148079" h="1056640">
                  <a:moveTo>
                    <a:pt x="1147584" y="0"/>
                  </a:moveTo>
                  <a:lnTo>
                    <a:pt x="824484" y="0"/>
                  </a:lnTo>
                  <a:lnTo>
                    <a:pt x="501396" y="518160"/>
                  </a:lnTo>
                  <a:lnTo>
                    <a:pt x="824484" y="1034808"/>
                  </a:lnTo>
                  <a:lnTo>
                    <a:pt x="1147584" y="1034808"/>
                  </a:lnTo>
                  <a:lnTo>
                    <a:pt x="824484" y="518160"/>
                  </a:lnTo>
                  <a:lnTo>
                    <a:pt x="11475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294131" y="901631"/>
            <a:ext cx="7118350" cy="13830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3189">
              <a:lnSpc>
                <a:spcPct val="100000"/>
              </a:lnSpc>
              <a:spcBef>
                <a:spcPts val="90"/>
              </a:spcBef>
            </a:pPr>
            <a:r>
              <a:rPr dirty="0" sz="1700" spc="-105">
                <a:solidFill>
                  <a:srgbClr val="001F60"/>
                </a:solidFill>
                <a:latin typeface="Verdana"/>
                <a:cs typeface="Verdana"/>
              </a:rPr>
              <a:t>SFIN</a:t>
            </a:r>
            <a:r>
              <a:rPr dirty="0" sz="1700" spc="-114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700" spc="-55">
                <a:solidFill>
                  <a:srgbClr val="001F60"/>
                </a:solidFill>
                <a:latin typeface="Verdana"/>
                <a:cs typeface="Verdana"/>
              </a:rPr>
              <a:t>-</a:t>
            </a:r>
            <a:r>
              <a:rPr dirty="0" sz="1700" spc="-13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700" spc="-105">
                <a:solidFill>
                  <a:srgbClr val="001F60"/>
                </a:solidFill>
                <a:latin typeface="Verdana"/>
                <a:cs typeface="Verdana"/>
              </a:rPr>
              <a:t>GIFT</a:t>
            </a:r>
            <a:r>
              <a:rPr dirty="0" sz="1700" spc="-114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700" spc="-65">
                <a:solidFill>
                  <a:srgbClr val="001F60"/>
                </a:solidFill>
                <a:latin typeface="Verdana"/>
                <a:cs typeface="Verdana"/>
              </a:rPr>
              <a:t>005</a:t>
            </a:r>
            <a:r>
              <a:rPr dirty="0" sz="1700" spc="-14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700" spc="-70">
                <a:solidFill>
                  <a:srgbClr val="001F60"/>
                </a:solidFill>
                <a:latin typeface="Verdana"/>
                <a:cs typeface="Verdana"/>
              </a:rPr>
              <a:t>251125</a:t>
            </a:r>
            <a:r>
              <a:rPr dirty="0" sz="1700" spc="-18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700" spc="-55">
                <a:solidFill>
                  <a:srgbClr val="001F60"/>
                </a:solidFill>
                <a:latin typeface="Verdana"/>
                <a:cs typeface="Verdana"/>
              </a:rPr>
              <a:t>USMedTreas</a:t>
            </a:r>
            <a:r>
              <a:rPr dirty="0" sz="1700" spc="-9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700" spc="-25">
                <a:solidFill>
                  <a:srgbClr val="001F60"/>
                </a:solidFill>
                <a:latin typeface="Verdana"/>
                <a:cs typeface="Verdana"/>
              </a:rPr>
              <a:t>105</a:t>
            </a:r>
            <a:endParaRPr sz="1700">
              <a:latin typeface="Verdana"/>
              <a:cs typeface="Verdana"/>
            </a:endParaRPr>
          </a:p>
          <a:p>
            <a:pPr marL="4490720">
              <a:lnSpc>
                <a:spcPct val="100000"/>
              </a:lnSpc>
              <a:spcBef>
                <a:spcPts val="1015"/>
              </a:spcBef>
            </a:pPr>
            <a:r>
              <a:rPr dirty="0" sz="1200" spc="-25">
                <a:solidFill>
                  <a:srgbClr val="001F60"/>
                </a:solidFill>
                <a:latin typeface="Verdana"/>
                <a:cs typeface="Verdana"/>
              </a:rPr>
              <a:t>Inception</a:t>
            </a:r>
            <a:r>
              <a:rPr dirty="0" sz="1200" spc="-6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200" spc="-55">
                <a:solidFill>
                  <a:srgbClr val="001F60"/>
                </a:solidFill>
                <a:latin typeface="Verdana"/>
                <a:cs typeface="Verdana"/>
              </a:rPr>
              <a:t>date:</a:t>
            </a:r>
            <a:r>
              <a:rPr dirty="0" sz="1200" spc="-6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001F60"/>
                </a:solidFill>
                <a:latin typeface="Verdana"/>
                <a:cs typeface="Verdana"/>
              </a:rPr>
              <a:t>27</a:t>
            </a:r>
            <a:r>
              <a:rPr dirty="0" baseline="24305" sz="1200">
                <a:solidFill>
                  <a:srgbClr val="001F60"/>
                </a:solidFill>
                <a:latin typeface="Verdana"/>
                <a:cs typeface="Verdana"/>
              </a:rPr>
              <a:t>th</a:t>
            </a:r>
            <a:r>
              <a:rPr dirty="0" baseline="24305" sz="1200" spc="6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200" spc="-35">
                <a:solidFill>
                  <a:srgbClr val="001F60"/>
                </a:solidFill>
                <a:latin typeface="Verdana"/>
                <a:cs typeface="Verdana"/>
              </a:rPr>
              <a:t>January,</a:t>
            </a:r>
            <a:r>
              <a:rPr dirty="0" sz="1200" spc="-6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200" spc="-20">
                <a:solidFill>
                  <a:srgbClr val="001F60"/>
                </a:solidFill>
                <a:latin typeface="Verdana"/>
                <a:cs typeface="Verdana"/>
              </a:rPr>
              <a:t>2026</a:t>
            </a:r>
            <a:endParaRPr sz="1200">
              <a:latin typeface="Verdana"/>
              <a:cs typeface="Verdana"/>
            </a:endParaRPr>
          </a:p>
          <a:p>
            <a:pPr marL="669925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001F60"/>
                </a:solidFill>
                <a:latin typeface="Verdana"/>
                <a:cs typeface="Verdana"/>
              </a:rPr>
              <a:t>Objective</a:t>
            </a:r>
            <a:endParaRPr sz="1500">
              <a:latin typeface="Verdana"/>
              <a:cs typeface="Verdana"/>
            </a:endParaRPr>
          </a:p>
          <a:p>
            <a:pPr marL="318135" marR="534035">
              <a:lnSpc>
                <a:spcPct val="100699"/>
              </a:lnSpc>
              <a:spcBef>
                <a:spcPts val="915"/>
              </a:spcBef>
            </a:pPr>
            <a:r>
              <a:rPr dirty="0" sz="1400">
                <a:solidFill>
                  <a:srgbClr val="001F60"/>
                </a:solidFill>
                <a:latin typeface="Verdana"/>
                <a:cs typeface="Verdana"/>
              </a:rPr>
              <a:t>To</a:t>
            </a:r>
            <a:r>
              <a:rPr dirty="0" sz="1400" spc="1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001F60"/>
                </a:solidFill>
                <a:latin typeface="Verdana"/>
                <a:cs typeface="Verdana"/>
              </a:rPr>
              <a:t>generate</a:t>
            </a:r>
            <a:r>
              <a:rPr dirty="0" sz="1400" spc="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001F60"/>
                </a:solidFill>
                <a:latin typeface="Verdana"/>
                <a:cs typeface="Verdana"/>
              </a:rPr>
              <a:t>steady</a:t>
            </a:r>
            <a:r>
              <a:rPr dirty="0" sz="1400" spc="1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001F60"/>
                </a:solidFill>
                <a:latin typeface="Verdana"/>
                <a:cs typeface="Verdana"/>
              </a:rPr>
              <a:t>income</a:t>
            </a:r>
            <a:r>
              <a:rPr dirty="0" sz="1400" spc="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001F60"/>
                </a:solidFill>
                <a:latin typeface="Verdana"/>
                <a:cs typeface="Verdana"/>
              </a:rPr>
              <a:t>through</a:t>
            </a:r>
            <a:r>
              <a:rPr dirty="0" sz="1400" spc="2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45">
                <a:solidFill>
                  <a:srgbClr val="001F60"/>
                </a:solidFill>
                <a:latin typeface="Verdana"/>
                <a:cs typeface="Verdana"/>
              </a:rPr>
              <a:t>investments</a:t>
            </a:r>
            <a:r>
              <a:rPr dirty="0" sz="1400" spc="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001F60"/>
                </a:solidFill>
                <a:latin typeface="Verdana"/>
                <a:cs typeface="Verdana"/>
              </a:rPr>
              <a:t>in global</a:t>
            </a:r>
            <a:r>
              <a:rPr dirty="0" sz="1400" spc="1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001F60"/>
                </a:solidFill>
                <a:latin typeface="Verdana"/>
                <a:cs typeface="Verdana"/>
              </a:rPr>
              <a:t>fixed</a:t>
            </a:r>
            <a:r>
              <a:rPr dirty="0" sz="1400" spc="1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001F60"/>
                </a:solidFill>
                <a:latin typeface="Verdana"/>
                <a:cs typeface="Verdana"/>
              </a:rPr>
              <a:t>income </a:t>
            </a:r>
            <a:r>
              <a:rPr dirty="0" sz="1400" spc="-30">
                <a:solidFill>
                  <a:srgbClr val="001F60"/>
                </a:solidFill>
                <a:latin typeface="Verdana"/>
                <a:cs typeface="Verdana"/>
              </a:rPr>
              <a:t>funds</a:t>
            </a:r>
            <a:r>
              <a:rPr dirty="0" sz="1400" spc="-10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30">
                <a:solidFill>
                  <a:srgbClr val="001F60"/>
                </a:solidFill>
                <a:latin typeface="Verdana"/>
                <a:cs typeface="Verdana"/>
              </a:rPr>
              <a:t>which</a:t>
            </a:r>
            <a:r>
              <a:rPr dirty="0" sz="1400" spc="-9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60">
                <a:solidFill>
                  <a:srgbClr val="001F60"/>
                </a:solidFill>
                <a:latin typeface="Verdana"/>
                <a:cs typeface="Verdana"/>
              </a:rPr>
              <a:t>invest</a:t>
            </a:r>
            <a:r>
              <a:rPr dirty="0" sz="1400" spc="-7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50">
                <a:solidFill>
                  <a:srgbClr val="001F60"/>
                </a:solidFill>
                <a:latin typeface="Verdana"/>
                <a:cs typeface="Verdana"/>
              </a:rPr>
              <a:t>in</a:t>
            </a:r>
            <a:r>
              <a:rPr dirty="0" sz="1400" spc="-8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001F60"/>
                </a:solidFill>
                <a:latin typeface="Verdana"/>
                <a:cs typeface="Verdana"/>
              </a:rPr>
              <a:t>medium-</a:t>
            </a:r>
            <a:r>
              <a:rPr dirty="0" sz="1400" spc="-85">
                <a:solidFill>
                  <a:srgbClr val="001F60"/>
                </a:solidFill>
                <a:latin typeface="Verdana"/>
                <a:cs typeface="Verdana"/>
              </a:rPr>
              <a:t>term </a:t>
            </a:r>
            <a:r>
              <a:rPr dirty="0" sz="1400" spc="-35">
                <a:solidFill>
                  <a:srgbClr val="001F60"/>
                </a:solidFill>
                <a:latin typeface="Verdana"/>
                <a:cs typeface="Verdana"/>
              </a:rPr>
              <a:t>US</a:t>
            </a:r>
            <a:r>
              <a:rPr dirty="0" sz="1400" spc="-9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001F60"/>
                </a:solidFill>
                <a:latin typeface="Verdana"/>
                <a:cs typeface="Verdana"/>
              </a:rPr>
              <a:t>Government</a:t>
            </a:r>
            <a:r>
              <a:rPr dirty="0" sz="1400" spc="-11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001F60"/>
                </a:solidFill>
                <a:latin typeface="Verdana"/>
                <a:cs typeface="Verdana"/>
              </a:rPr>
              <a:t>bonds.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83200" y="2768600"/>
            <a:ext cx="100711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001F60"/>
                </a:solidFill>
                <a:latin typeface="Verdana"/>
                <a:cs typeface="Verdana"/>
              </a:rPr>
              <a:t>Risk</a:t>
            </a:r>
            <a:r>
              <a:rPr dirty="0" sz="1500" spc="-11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500" spc="-10">
                <a:solidFill>
                  <a:srgbClr val="001F60"/>
                </a:solidFill>
                <a:latin typeface="Verdana"/>
                <a:cs typeface="Verdana"/>
              </a:rPr>
              <a:t>Meter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77900" y="2805176"/>
            <a:ext cx="170815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20">
                <a:solidFill>
                  <a:srgbClr val="001F60"/>
                </a:solidFill>
                <a:latin typeface="Verdana"/>
                <a:cs typeface="Verdana"/>
              </a:rPr>
              <a:t>Fund</a:t>
            </a:r>
            <a:r>
              <a:rPr dirty="0" sz="1500" spc="-10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500" spc="-10">
                <a:solidFill>
                  <a:srgbClr val="001F60"/>
                </a:solidFill>
                <a:latin typeface="Verdana"/>
                <a:cs typeface="Verdana"/>
              </a:rPr>
              <a:t>Composition</a:t>
            </a:r>
            <a:endParaRPr sz="1500">
              <a:latin typeface="Verdana"/>
              <a:cs typeface="Verdan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5300" y="2731007"/>
            <a:ext cx="348995" cy="34899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107439" y="5496560"/>
            <a:ext cx="305816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20">
                <a:solidFill>
                  <a:srgbClr val="001F60"/>
                </a:solidFill>
                <a:latin typeface="Verdana"/>
                <a:cs typeface="Verdana"/>
              </a:rPr>
              <a:t>Fund</a:t>
            </a:r>
            <a:r>
              <a:rPr dirty="0" sz="1500" spc="-6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500" spc="-20">
                <a:solidFill>
                  <a:srgbClr val="001F60"/>
                </a:solidFill>
                <a:latin typeface="Verdana"/>
                <a:cs typeface="Verdana"/>
              </a:rPr>
              <a:t>Performance</a:t>
            </a:r>
            <a:r>
              <a:rPr dirty="0" sz="1500" spc="-5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500" spc="-30">
                <a:solidFill>
                  <a:srgbClr val="001F60"/>
                </a:solidFill>
                <a:latin typeface="Verdana"/>
                <a:cs typeface="Verdana"/>
              </a:rPr>
              <a:t>(Back-</a:t>
            </a:r>
            <a:r>
              <a:rPr dirty="0" sz="1500" spc="-10">
                <a:solidFill>
                  <a:srgbClr val="001F60"/>
                </a:solidFill>
                <a:latin typeface="Verdana"/>
                <a:cs typeface="Verdana"/>
              </a:rPr>
              <a:t>tested)</a:t>
            </a:r>
            <a:endParaRPr sz="1500">
              <a:latin typeface="Verdana"/>
              <a:cs typeface="Verdan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5300" y="5382768"/>
            <a:ext cx="473963" cy="428243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08411" y="9353144"/>
            <a:ext cx="2704373" cy="631908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598420" y="8549204"/>
            <a:ext cx="6579234" cy="454659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algn="just" marL="12700" marR="5080">
              <a:lnSpc>
                <a:spcPct val="104400"/>
              </a:lnSpc>
              <a:spcBef>
                <a:spcPts val="85"/>
              </a:spcBef>
            </a:pP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Back-</a:t>
            </a:r>
            <a:r>
              <a:rPr dirty="0" sz="900" spc="-10">
                <a:solidFill>
                  <a:srgbClr val="052B6D"/>
                </a:solidFill>
                <a:latin typeface="Verdana"/>
                <a:cs typeface="Verdana"/>
              </a:rPr>
              <a:t>tested</a:t>
            </a:r>
            <a:r>
              <a:rPr dirty="0" sz="900" spc="-3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25">
                <a:solidFill>
                  <a:srgbClr val="052B6D"/>
                </a:solidFill>
                <a:latin typeface="Verdana"/>
                <a:cs typeface="Verdana"/>
              </a:rPr>
              <a:t>returns</a:t>
            </a:r>
            <a:r>
              <a:rPr dirty="0" sz="900" spc="-5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are</a:t>
            </a:r>
            <a:r>
              <a:rPr dirty="0" sz="900" spc="-4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calculated</a:t>
            </a:r>
            <a:r>
              <a:rPr dirty="0" sz="900" spc="-4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based</a:t>
            </a:r>
            <a:r>
              <a:rPr dirty="0" sz="900" spc="-3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052B6D"/>
                </a:solidFill>
                <a:latin typeface="Verdana"/>
                <a:cs typeface="Verdana"/>
              </a:rPr>
              <a:t>on</a:t>
            </a:r>
            <a:r>
              <a:rPr dirty="0" sz="900" spc="-5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052B6D"/>
                </a:solidFill>
                <a:latin typeface="Verdana"/>
                <a:cs typeface="Verdana"/>
              </a:rPr>
              <a:t>the</a:t>
            </a:r>
            <a:r>
              <a:rPr dirty="0" sz="900" spc="-4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052B6D"/>
                </a:solidFill>
                <a:latin typeface="Verdana"/>
                <a:cs typeface="Verdana"/>
              </a:rPr>
              <a:t>historical</a:t>
            </a:r>
            <a:r>
              <a:rPr dirty="0" sz="900" spc="-5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052B6D"/>
                </a:solidFill>
                <a:latin typeface="Verdana"/>
                <a:cs typeface="Verdana"/>
              </a:rPr>
              <a:t>performance</a:t>
            </a:r>
            <a:r>
              <a:rPr dirty="0" sz="900" spc="-5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that</a:t>
            </a:r>
            <a:r>
              <a:rPr dirty="0" sz="900" spc="-4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052B6D"/>
                </a:solidFill>
                <a:latin typeface="Verdana"/>
                <a:cs typeface="Verdana"/>
              </a:rPr>
              <a:t>the</a:t>
            </a:r>
            <a:r>
              <a:rPr dirty="0" sz="900" spc="-4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052B6D"/>
                </a:solidFill>
                <a:latin typeface="Verdana"/>
                <a:cs typeface="Verdana"/>
              </a:rPr>
              <a:t>strategy</a:t>
            </a:r>
            <a:r>
              <a:rPr dirty="0" sz="900" spc="-3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would</a:t>
            </a:r>
            <a:r>
              <a:rPr dirty="0" sz="900" spc="-4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have</a:t>
            </a:r>
            <a:r>
              <a:rPr dirty="0" sz="900" spc="-4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052B6D"/>
                </a:solidFill>
                <a:latin typeface="Verdana"/>
                <a:cs typeface="Verdana"/>
              </a:rPr>
              <a:t>generated</a:t>
            </a:r>
            <a:r>
              <a:rPr dirty="0" sz="900" spc="-4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25">
                <a:solidFill>
                  <a:srgbClr val="052B6D"/>
                </a:solidFill>
                <a:latin typeface="Verdana"/>
                <a:cs typeface="Verdana"/>
              </a:rPr>
              <a:t>had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the</a:t>
            </a:r>
            <a:r>
              <a:rPr dirty="0" sz="900" spc="-2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funds</a:t>
            </a:r>
            <a:r>
              <a:rPr dirty="0" sz="900" spc="-2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been</a:t>
            </a:r>
            <a:r>
              <a:rPr dirty="0" sz="900" spc="-2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052B6D"/>
                </a:solidFill>
                <a:latin typeface="Verdana"/>
                <a:cs typeface="Verdana"/>
              </a:rPr>
              <a:t>deployed</a:t>
            </a:r>
            <a:r>
              <a:rPr dirty="0" sz="900" spc="-2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across</a:t>
            </a:r>
            <a:r>
              <a:rPr dirty="0" sz="900" spc="-2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052B6D"/>
                </a:solidFill>
                <a:latin typeface="Verdana"/>
                <a:cs typeface="Verdana"/>
              </a:rPr>
              <a:t>different</a:t>
            </a:r>
            <a:r>
              <a:rPr dirty="0" sz="900" spc="-3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052B6D"/>
                </a:solidFill>
                <a:latin typeface="Verdana"/>
                <a:cs typeface="Verdana"/>
              </a:rPr>
              <a:t>time</a:t>
            </a:r>
            <a:r>
              <a:rPr dirty="0" sz="900" spc="-1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052B6D"/>
                </a:solidFill>
                <a:latin typeface="Verdana"/>
                <a:cs typeface="Verdana"/>
              </a:rPr>
              <a:t>periods.</a:t>
            </a:r>
            <a:r>
              <a:rPr dirty="0" sz="900" spc="-3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The</a:t>
            </a:r>
            <a:r>
              <a:rPr dirty="0" sz="900" spc="-2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above</a:t>
            </a:r>
            <a:r>
              <a:rPr dirty="0" sz="900" spc="-20">
                <a:solidFill>
                  <a:srgbClr val="052B6D"/>
                </a:solidFill>
                <a:latin typeface="Verdana"/>
                <a:cs typeface="Verdana"/>
              </a:rPr>
              <a:t> mentioned</a:t>
            </a:r>
            <a:r>
              <a:rPr dirty="0" sz="900" spc="-1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052B6D"/>
                </a:solidFill>
                <a:latin typeface="Verdana"/>
                <a:cs typeface="Verdana"/>
              </a:rPr>
              <a:t>returns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are</a:t>
            </a:r>
            <a:r>
              <a:rPr dirty="0" sz="900" spc="-2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as</a:t>
            </a:r>
            <a:r>
              <a:rPr dirty="0" sz="900" spc="-2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on</a:t>
            </a:r>
            <a:r>
              <a:rPr dirty="0" sz="900" spc="-2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052B6D"/>
                </a:solidFill>
                <a:latin typeface="Verdana"/>
                <a:cs typeface="Verdana"/>
              </a:rPr>
              <a:t>December</a:t>
            </a:r>
            <a:r>
              <a:rPr dirty="0" sz="900" spc="-3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25">
                <a:solidFill>
                  <a:srgbClr val="052B6D"/>
                </a:solidFill>
                <a:latin typeface="Verdana"/>
                <a:cs typeface="Verdana"/>
              </a:rPr>
              <a:t>31,</a:t>
            </a:r>
            <a:r>
              <a:rPr dirty="0" sz="900" spc="-3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052B6D"/>
                </a:solidFill>
                <a:latin typeface="Verdana"/>
                <a:cs typeface="Verdana"/>
              </a:rPr>
              <a:t>2025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and</a:t>
            </a:r>
            <a:r>
              <a:rPr dirty="0" sz="900" spc="-6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052B6D"/>
                </a:solidFill>
                <a:latin typeface="Verdana"/>
                <a:cs typeface="Verdana"/>
              </a:rPr>
              <a:t>are</a:t>
            </a:r>
            <a:r>
              <a:rPr dirty="0" sz="900" spc="-4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shown</a:t>
            </a:r>
            <a:r>
              <a:rPr dirty="0" sz="900" spc="-6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25">
                <a:solidFill>
                  <a:srgbClr val="052B6D"/>
                </a:solidFill>
                <a:latin typeface="Verdana"/>
                <a:cs typeface="Verdana"/>
              </a:rPr>
              <a:t>prior</a:t>
            </a:r>
            <a:r>
              <a:rPr dirty="0" sz="900" spc="-4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052B6D"/>
                </a:solidFill>
                <a:latin typeface="Verdana"/>
                <a:cs typeface="Verdana"/>
              </a:rPr>
              <a:t>to</a:t>
            </a:r>
            <a:r>
              <a:rPr dirty="0" sz="900" spc="-6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25">
                <a:solidFill>
                  <a:srgbClr val="052B6D"/>
                </a:solidFill>
                <a:latin typeface="Verdana"/>
                <a:cs typeface="Verdana"/>
              </a:rPr>
              <a:t>the</a:t>
            </a:r>
            <a:r>
              <a:rPr dirty="0" sz="900" spc="-5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052B6D"/>
                </a:solidFill>
                <a:latin typeface="Verdana"/>
                <a:cs typeface="Verdana"/>
              </a:rPr>
              <a:t>deduction</a:t>
            </a:r>
            <a:r>
              <a:rPr dirty="0" sz="900" spc="-5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of</a:t>
            </a:r>
            <a:r>
              <a:rPr dirty="0" sz="900" spc="-6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25">
                <a:solidFill>
                  <a:srgbClr val="052B6D"/>
                </a:solidFill>
                <a:latin typeface="Verdana"/>
                <a:cs typeface="Verdana"/>
              </a:rPr>
              <a:t>the</a:t>
            </a:r>
            <a:r>
              <a:rPr dirty="0" sz="900" spc="-5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applicable</a:t>
            </a:r>
            <a:r>
              <a:rPr dirty="0" sz="900" spc="-3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052B6D"/>
                </a:solidFill>
                <a:latin typeface="Verdana"/>
                <a:cs typeface="Verdana"/>
              </a:rPr>
              <a:t>fund</a:t>
            </a:r>
            <a:r>
              <a:rPr dirty="0" sz="900" spc="-4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052B6D"/>
                </a:solidFill>
                <a:latin typeface="Verdana"/>
                <a:cs typeface="Verdana"/>
              </a:rPr>
              <a:t>management</a:t>
            </a:r>
            <a:r>
              <a:rPr dirty="0" sz="900" spc="-4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052B6D"/>
                </a:solidFill>
                <a:latin typeface="Verdana"/>
                <a:cs typeface="Verdana"/>
              </a:rPr>
              <a:t>charges.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254251" y="7972044"/>
            <a:ext cx="5690870" cy="0"/>
          </a:xfrm>
          <a:custGeom>
            <a:avLst/>
            <a:gdLst/>
            <a:ahLst/>
            <a:cxnLst/>
            <a:rect l="l" t="t" r="r" b="b"/>
            <a:pathLst>
              <a:path w="5690870" h="0">
                <a:moveTo>
                  <a:pt x="0" y="0"/>
                </a:moveTo>
                <a:lnTo>
                  <a:pt x="5690616" y="0"/>
                </a:lnTo>
              </a:path>
            </a:pathLst>
          </a:custGeom>
          <a:ln w="9144">
            <a:solidFill>
              <a:srgbClr val="D8D8D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254251" y="7699247"/>
            <a:ext cx="5690870" cy="0"/>
          </a:xfrm>
          <a:custGeom>
            <a:avLst/>
            <a:gdLst/>
            <a:ahLst/>
            <a:cxnLst/>
            <a:rect l="l" t="t" r="r" b="b"/>
            <a:pathLst>
              <a:path w="5690870" h="0">
                <a:moveTo>
                  <a:pt x="0" y="0"/>
                </a:moveTo>
                <a:lnTo>
                  <a:pt x="5690616" y="0"/>
                </a:lnTo>
              </a:path>
            </a:pathLst>
          </a:custGeom>
          <a:ln w="9144">
            <a:solidFill>
              <a:srgbClr val="D8D8D8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5" name="object 25"/>
          <p:cNvGrpSpPr/>
          <p:nvPr/>
        </p:nvGrpSpPr>
        <p:grpSpPr>
          <a:xfrm>
            <a:off x="1254251" y="6158484"/>
            <a:ext cx="5690870" cy="1490980"/>
            <a:chOff x="1254251" y="6158484"/>
            <a:chExt cx="5690870" cy="1490980"/>
          </a:xfrm>
        </p:grpSpPr>
        <p:sp>
          <p:nvSpPr>
            <p:cNvPr id="26" name="object 26"/>
            <p:cNvSpPr/>
            <p:nvPr/>
          </p:nvSpPr>
          <p:spPr>
            <a:xfrm>
              <a:off x="1254251" y="7424928"/>
              <a:ext cx="5690870" cy="0"/>
            </a:xfrm>
            <a:custGeom>
              <a:avLst/>
              <a:gdLst/>
              <a:ahLst/>
              <a:cxnLst/>
              <a:rect l="l" t="t" r="r" b="b"/>
              <a:pathLst>
                <a:path w="5690870" h="0">
                  <a:moveTo>
                    <a:pt x="0" y="0"/>
                  </a:moveTo>
                  <a:lnTo>
                    <a:pt x="1876044" y="0"/>
                  </a:lnTo>
                </a:path>
                <a:path w="5690870" h="0">
                  <a:moveTo>
                    <a:pt x="2292096" y="0"/>
                  </a:moveTo>
                  <a:lnTo>
                    <a:pt x="5690616" y="0"/>
                  </a:lnTo>
                </a:path>
              </a:pathLst>
            </a:custGeom>
            <a:ln w="914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254251" y="7150608"/>
              <a:ext cx="5690870" cy="0"/>
            </a:xfrm>
            <a:custGeom>
              <a:avLst/>
              <a:gdLst/>
              <a:ahLst/>
              <a:cxnLst/>
              <a:rect l="l" t="t" r="r" b="b"/>
              <a:pathLst>
                <a:path w="5690870" h="0">
                  <a:moveTo>
                    <a:pt x="0" y="0"/>
                  </a:moveTo>
                  <a:lnTo>
                    <a:pt x="5690616" y="0"/>
                  </a:lnTo>
                </a:path>
              </a:pathLst>
            </a:custGeom>
            <a:ln w="914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254251" y="6327648"/>
              <a:ext cx="5690870" cy="548640"/>
            </a:xfrm>
            <a:custGeom>
              <a:avLst/>
              <a:gdLst/>
              <a:ahLst/>
              <a:cxnLst/>
              <a:rect l="l" t="t" r="r" b="b"/>
              <a:pathLst>
                <a:path w="5690870" h="548640">
                  <a:moveTo>
                    <a:pt x="0" y="548639"/>
                  </a:moveTo>
                  <a:lnTo>
                    <a:pt x="454152" y="548639"/>
                  </a:lnTo>
                </a:path>
                <a:path w="5690870" h="548640">
                  <a:moveTo>
                    <a:pt x="868680" y="548639"/>
                  </a:moveTo>
                  <a:lnTo>
                    <a:pt x="3299460" y="548639"/>
                  </a:lnTo>
                </a:path>
                <a:path w="5690870" h="548640">
                  <a:moveTo>
                    <a:pt x="3713988" y="548639"/>
                  </a:moveTo>
                  <a:lnTo>
                    <a:pt x="5690616" y="548639"/>
                  </a:lnTo>
                </a:path>
                <a:path w="5690870" h="548640">
                  <a:moveTo>
                    <a:pt x="0" y="274320"/>
                  </a:moveTo>
                  <a:lnTo>
                    <a:pt x="454152" y="274320"/>
                  </a:lnTo>
                </a:path>
                <a:path w="5690870" h="548640">
                  <a:moveTo>
                    <a:pt x="868680" y="274320"/>
                  </a:moveTo>
                  <a:lnTo>
                    <a:pt x="5690616" y="274320"/>
                  </a:lnTo>
                </a:path>
                <a:path w="5690870" h="548640">
                  <a:moveTo>
                    <a:pt x="0" y="0"/>
                  </a:moveTo>
                  <a:lnTo>
                    <a:pt x="454152" y="0"/>
                  </a:lnTo>
                </a:path>
                <a:path w="5690870" h="548640">
                  <a:moveTo>
                    <a:pt x="868680" y="0"/>
                  </a:moveTo>
                  <a:lnTo>
                    <a:pt x="5690616" y="0"/>
                  </a:lnTo>
                </a:path>
              </a:pathLst>
            </a:custGeom>
            <a:ln w="914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708404" y="6158484"/>
              <a:ext cx="3260090" cy="1490980"/>
            </a:xfrm>
            <a:custGeom>
              <a:avLst/>
              <a:gdLst/>
              <a:ahLst/>
              <a:cxnLst/>
              <a:rect l="l" t="t" r="r" b="b"/>
              <a:pathLst>
                <a:path w="3260090" h="1490979">
                  <a:moveTo>
                    <a:pt x="414528" y="0"/>
                  </a:moveTo>
                  <a:lnTo>
                    <a:pt x="0" y="0"/>
                  </a:lnTo>
                  <a:lnTo>
                    <a:pt x="0" y="992136"/>
                  </a:lnTo>
                  <a:lnTo>
                    <a:pt x="414528" y="992136"/>
                  </a:lnTo>
                  <a:lnTo>
                    <a:pt x="414528" y="0"/>
                  </a:lnTo>
                  <a:close/>
                </a:path>
                <a:path w="3260090" h="1490979">
                  <a:moveTo>
                    <a:pt x="1837944" y="992136"/>
                  </a:moveTo>
                  <a:lnTo>
                    <a:pt x="1421892" y="992136"/>
                  </a:lnTo>
                  <a:lnTo>
                    <a:pt x="1421892" y="1490472"/>
                  </a:lnTo>
                  <a:lnTo>
                    <a:pt x="1837944" y="1490472"/>
                  </a:lnTo>
                  <a:lnTo>
                    <a:pt x="1837944" y="992136"/>
                  </a:lnTo>
                  <a:close/>
                </a:path>
                <a:path w="3260090" h="1490979">
                  <a:moveTo>
                    <a:pt x="3259836" y="644664"/>
                  </a:moveTo>
                  <a:lnTo>
                    <a:pt x="2845308" y="644664"/>
                  </a:lnTo>
                  <a:lnTo>
                    <a:pt x="2845308" y="992136"/>
                  </a:lnTo>
                  <a:lnTo>
                    <a:pt x="3259836" y="992136"/>
                  </a:lnTo>
                  <a:lnTo>
                    <a:pt x="3259836" y="644664"/>
                  </a:lnTo>
                  <a:close/>
                </a:path>
              </a:pathLst>
            </a:custGeom>
            <a:solidFill>
              <a:srgbClr val="052B6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/>
          <p:nvPr/>
        </p:nvSpPr>
        <p:spPr>
          <a:xfrm>
            <a:off x="1254251" y="6054852"/>
            <a:ext cx="5690870" cy="0"/>
          </a:xfrm>
          <a:custGeom>
            <a:avLst/>
            <a:gdLst/>
            <a:ahLst/>
            <a:cxnLst/>
            <a:rect l="l" t="t" r="r" b="b"/>
            <a:pathLst>
              <a:path w="5690870" h="0">
                <a:moveTo>
                  <a:pt x="0" y="0"/>
                </a:moveTo>
                <a:lnTo>
                  <a:pt x="5690616" y="0"/>
                </a:lnTo>
              </a:path>
            </a:pathLst>
          </a:custGeom>
          <a:ln w="9144">
            <a:solidFill>
              <a:srgbClr val="D8D8D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1688035" y="5940016"/>
            <a:ext cx="45529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60">
                <a:solidFill>
                  <a:srgbClr val="052B6D"/>
                </a:solidFill>
                <a:latin typeface="Verdana"/>
                <a:cs typeface="Verdana"/>
              </a:rPr>
              <a:t>3.62%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079480" y="7691177"/>
            <a:ext cx="51943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>
                <a:solidFill>
                  <a:srgbClr val="052B6D"/>
                </a:solidFill>
                <a:latin typeface="Verdana"/>
                <a:cs typeface="Verdana"/>
              </a:rPr>
              <a:t>-</a:t>
            </a:r>
            <a:r>
              <a:rPr dirty="0" sz="1100" spc="-60">
                <a:solidFill>
                  <a:srgbClr val="052B6D"/>
                </a:solidFill>
                <a:latin typeface="Verdana"/>
                <a:cs typeface="Verdana"/>
              </a:rPr>
              <a:t>1.82%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533385" y="6557306"/>
            <a:ext cx="45529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60">
                <a:solidFill>
                  <a:srgbClr val="052B6D"/>
                </a:solidFill>
                <a:latin typeface="Verdana"/>
                <a:cs typeface="Verdana"/>
              </a:rPr>
              <a:t>1.27%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17898" y="5943024"/>
            <a:ext cx="313055" cy="21164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125"/>
              </a:spcBef>
            </a:pPr>
            <a:r>
              <a:rPr dirty="0" sz="1100" spc="-45">
                <a:solidFill>
                  <a:srgbClr val="052B6D"/>
                </a:solidFill>
                <a:latin typeface="Verdana"/>
                <a:cs typeface="Verdana"/>
              </a:rPr>
              <a:t>4%</a:t>
            </a:r>
            <a:endParaRPr sz="1100">
              <a:latin typeface="Verdana"/>
              <a:cs typeface="Verdana"/>
            </a:endParaRPr>
          </a:p>
          <a:p>
            <a:pPr marL="76200">
              <a:lnSpc>
                <a:spcPct val="100000"/>
              </a:lnSpc>
              <a:spcBef>
                <a:spcPts val="840"/>
              </a:spcBef>
            </a:pPr>
            <a:r>
              <a:rPr dirty="0" sz="1100" spc="-45">
                <a:solidFill>
                  <a:srgbClr val="052B6D"/>
                </a:solidFill>
                <a:latin typeface="Verdana"/>
                <a:cs typeface="Verdana"/>
              </a:rPr>
              <a:t>3%</a:t>
            </a:r>
            <a:endParaRPr sz="1100">
              <a:latin typeface="Verdana"/>
              <a:cs typeface="Verdana"/>
            </a:endParaRPr>
          </a:p>
          <a:p>
            <a:pPr marL="76200">
              <a:lnSpc>
                <a:spcPct val="100000"/>
              </a:lnSpc>
              <a:spcBef>
                <a:spcPts val="840"/>
              </a:spcBef>
            </a:pPr>
            <a:r>
              <a:rPr dirty="0" sz="1100" spc="-45">
                <a:solidFill>
                  <a:srgbClr val="052B6D"/>
                </a:solidFill>
                <a:latin typeface="Verdana"/>
                <a:cs typeface="Verdana"/>
              </a:rPr>
              <a:t>2%</a:t>
            </a:r>
            <a:endParaRPr sz="1100">
              <a:latin typeface="Verdana"/>
              <a:cs typeface="Verdana"/>
            </a:endParaRPr>
          </a:p>
          <a:p>
            <a:pPr marL="76200">
              <a:lnSpc>
                <a:spcPct val="100000"/>
              </a:lnSpc>
              <a:spcBef>
                <a:spcPts val="840"/>
              </a:spcBef>
            </a:pPr>
            <a:r>
              <a:rPr dirty="0" sz="1100" spc="-45">
                <a:solidFill>
                  <a:srgbClr val="052B6D"/>
                </a:solidFill>
                <a:latin typeface="Verdana"/>
                <a:cs typeface="Verdana"/>
              </a:rPr>
              <a:t>1%</a:t>
            </a:r>
            <a:endParaRPr sz="1100">
              <a:latin typeface="Verdana"/>
              <a:cs typeface="Verdana"/>
            </a:endParaRPr>
          </a:p>
          <a:p>
            <a:pPr marL="76200">
              <a:lnSpc>
                <a:spcPct val="100000"/>
              </a:lnSpc>
              <a:spcBef>
                <a:spcPts val="830"/>
              </a:spcBef>
            </a:pPr>
            <a:r>
              <a:rPr dirty="0" sz="1100" spc="-45">
                <a:solidFill>
                  <a:srgbClr val="052B6D"/>
                </a:solidFill>
                <a:latin typeface="Verdana"/>
                <a:cs typeface="Verdana"/>
              </a:rPr>
              <a:t>0%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100">
                <a:solidFill>
                  <a:srgbClr val="052B6D"/>
                </a:solidFill>
                <a:latin typeface="Verdana"/>
                <a:cs typeface="Verdana"/>
              </a:rPr>
              <a:t>-</a:t>
            </a:r>
            <a:r>
              <a:rPr dirty="0" sz="1100" spc="-45">
                <a:solidFill>
                  <a:srgbClr val="052B6D"/>
                </a:solidFill>
                <a:latin typeface="Verdana"/>
                <a:cs typeface="Verdana"/>
              </a:rPr>
              <a:t>1%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100">
                <a:solidFill>
                  <a:srgbClr val="052B6D"/>
                </a:solidFill>
                <a:latin typeface="Verdana"/>
                <a:cs typeface="Verdana"/>
              </a:rPr>
              <a:t>-</a:t>
            </a:r>
            <a:r>
              <a:rPr dirty="0" sz="1100" spc="-45">
                <a:solidFill>
                  <a:srgbClr val="052B6D"/>
                </a:solidFill>
                <a:latin typeface="Verdana"/>
                <a:cs typeface="Verdana"/>
              </a:rPr>
              <a:t>2%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100">
                <a:solidFill>
                  <a:srgbClr val="052B6D"/>
                </a:solidFill>
                <a:latin typeface="Verdana"/>
                <a:cs typeface="Verdana"/>
              </a:rPr>
              <a:t>-</a:t>
            </a:r>
            <a:r>
              <a:rPr dirty="0" sz="1100" spc="-45">
                <a:solidFill>
                  <a:srgbClr val="052B6D"/>
                </a:solidFill>
                <a:latin typeface="Verdana"/>
                <a:cs typeface="Verdana"/>
              </a:rPr>
              <a:t>3%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31735" y="7992874"/>
            <a:ext cx="54483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30">
                <a:solidFill>
                  <a:srgbClr val="052B6D"/>
                </a:solidFill>
                <a:latin typeface="Verdana"/>
                <a:cs typeface="Verdana"/>
              </a:rPr>
              <a:t>3</a:t>
            </a:r>
            <a:r>
              <a:rPr dirty="0" sz="1100" spc="-7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052B6D"/>
                </a:solidFill>
                <a:latin typeface="Verdana"/>
                <a:cs typeface="Verdana"/>
              </a:rPr>
              <a:t>Years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037077" y="7992874"/>
            <a:ext cx="54483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30">
                <a:solidFill>
                  <a:srgbClr val="052B6D"/>
                </a:solidFill>
                <a:latin typeface="Verdana"/>
                <a:cs typeface="Verdana"/>
              </a:rPr>
              <a:t>5</a:t>
            </a:r>
            <a:r>
              <a:rPr dirty="0" sz="1100" spc="-7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052B6D"/>
                </a:solidFill>
                <a:latin typeface="Verdana"/>
                <a:cs typeface="Verdana"/>
              </a:rPr>
              <a:t>Years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443851" y="7992874"/>
            <a:ext cx="62928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35">
                <a:solidFill>
                  <a:srgbClr val="052B6D"/>
                </a:solidFill>
                <a:latin typeface="Verdana"/>
                <a:cs typeface="Verdana"/>
              </a:rPr>
              <a:t>10</a:t>
            </a:r>
            <a:r>
              <a:rPr dirty="0" sz="1100" spc="-6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052B6D"/>
                </a:solidFill>
                <a:latin typeface="Verdana"/>
                <a:cs typeface="Verdana"/>
              </a:rPr>
              <a:t>Years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563585" y="39128"/>
            <a:ext cx="182689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25">
                <a:solidFill>
                  <a:srgbClr val="052B6D"/>
                </a:solidFill>
                <a:latin typeface="Verdana"/>
                <a:cs typeface="Verdana"/>
              </a:rPr>
              <a:t>COMP/DOC/Mar/2026/133/2182</a:t>
            </a:r>
            <a:endParaRPr sz="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Priyanshi Jain     /GROUP/ICICIPRU/CNER</dc:creator>
  <dc:title>Microsoft PowerPoint - Funds Factsheet - GWM</dc:title>
  <dcterms:created xsi:type="dcterms:W3CDTF">2026-04-17T09:52:41Z</dcterms:created>
  <dcterms:modified xsi:type="dcterms:W3CDTF">2026-04-17T09:52:41Z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2026-03-17T00:00:00Z</vt:filetime>
  </property>
  <property fmtid="{D5CDD505-2E9C-101B-9397-08002B2CF9AE}" pid="3" name="LastSaved">
    <vt:filetime>2026-04-17T00:00:00Z</vt:filetime>
  </property>
  <property fmtid="{D5CDD505-2E9C-101B-9397-08002B2CF9AE}" pid="4" name="Producer">
    <vt:lpwstr>Microsoft: Print To PDF</vt:lpwstr>
  </property>
</Properties>
</file>